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70" r:id="rId14"/>
    <p:sldId id="269" r:id="rId15"/>
    <p:sldId id="268" r:id="rId16"/>
    <p:sldId id="267" r:id="rId17"/>
    <p:sldId id="272" r:id="rId18"/>
  </p:sldIdLst>
  <p:sldSz cx="12192000" cy="6858000"/>
  <p:notesSz cx="6858000" cy="12192000"/>
  <p:embeddedFontLst>
    <p:embeddedFont>
      <p:font typeface="Caladea Bold" panose="020B0604020202020204" charset="0"/>
      <p:regular r:id="rId20"/>
    </p:embeddedFont>
    <p:embeddedFont>
      <p:font typeface="Carlito Bold" panose="020B0604020202020204" charset="0"/>
      <p:regular r:id="rId21"/>
    </p:embeddedFont>
    <p:embeddedFont>
      <p:font typeface="Consolas" panose="020B0609020204030204" pitchFamily="49" charset="0"/>
      <p:regular r:id="rId22"/>
      <p:bold r:id="rId23"/>
      <p:italic r:id="rId24"/>
      <p:boldItalic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CDA0A9-73E2-4D1B-9F7B-0AD832BFAA36}" v="5" dt="2026-10-13T08:11:29.6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shika B" userId="07a38acd149dfe7b" providerId="LiveId" clId="{72356F2E-848B-47EA-8476-441502A36485}"/>
    <pc:docChg chg="undo custSel modSld">
      <pc:chgData name="Poshika B" userId="07a38acd149dfe7b" providerId="LiveId" clId="{72356F2E-848B-47EA-8476-441502A36485}" dt="2026-10-13T08:26:37.563" v="294" actId="20577"/>
      <pc:docMkLst>
        <pc:docMk/>
      </pc:docMkLst>
      <pc:sldChg chg="addSp delSp modSp mod modNotesTx">
        <pc:chgData name="Poshika B" userId="07a38acd149dfe7b" providerId="LiveId" clId="{72356F2E-848B-47EA-8476-441502A36485}" dt="2026-10-13T06:37:55.296" v="243" actId="120"/>
        <pc:sldMkLst>
          <pc:docMk/>
          <pc:sldMk cId="0" sldId="256"/>
        </pc:sldMkLst>
        <pc:spChg chg="add del">
          <ac:chgData name="Poshika B" userId="07a38acd149dfe7b" providerId="LiveId" clId="{72356F2E-848B-47EA-8476-441502A36485}" dt="2026-10-13T06:34:43.940" v="128" actId="478"/>
          <ac:spMkLst>
            <pc:docMk/>
            <pc:sldMk cId="0" sldId="256"/>
            <ac:spMk id="19" creationId="{FAF2514A-3E71-FF2C-5EF9-2BC7EEF37526}"/>
          </ac:spMkLst>
        </pc:spChg>
        <pc:spChg chg="add mod">
          <ac:chgData name="Poshika B" userId="07a38acd149dfe7b" providerId="LiveId" clId="{72356F2E-848B-47EA-8476-441502A36485}" dt="2026-10-13T06:37:55.296" v="243" actId="120"/>
          <ac:spMkLst>
            <pc:docMk/>
            <pc:sldMk cId="0" sldId="256"/>
            <ac:spMk id="22" creationId="{0205E6E1-2891-34FA-715C-569122B84ACC}"/>
          </ac:spMkLst>
        </pc:spChg>
        <pc:spChg chg="add mod">
          <ac:chgData name="Poshika B" userId="07a38acd149dfe7b" providerId="LiveId" clId="{72356F2E-848B-47EA-8476-441502A36485}" dt="2026-10-13T06:36:32.209" v="176" actId="207"/>
          <ac:spMkLst>
            <pc:docMk/>
            <pc:sldMk cId="0" sldId="256"/>
            <ac:spMk id="25" creationId="{911B1D91-EBD1-58E2-64E9-0FF8D8C93DE3}"/>
          </ac:spMkLst>
        </pc:spChg>
        <pc:picChg chg="add mod">
          <ac:chgData name="Poshika B" userId="07a38acd149dfe7b" providerId="LiveId" clId="{72356F2E-848B-47EA-8476-441502A36485}" dt="2026-10-13T06:33:55.057" v="114" actId="1076"/>
          <ac:picMkLst>
            <pc:docMk/>
            <pc:sldMk cId="0" sldId="256"/>
            <ac:picMk id="11" creationId="{DFA32BE8-74EA-CAF8-7CE7-DF3EBC3A5E74}"/>
          </ac:picMkLst>
        </pc:picChg>
        <pc:picChg chg="add del">
          <ac:chgData name="Poshika B" userId="07a38acd149dfe7b" providerId="LiveId" clId="{72356F2E-848B-47EA-8476-441502A36485}" dt="2026-10-13T06:34:28.772" v="122" actId="478"/>
          <ac:picMkLst>
            <pc:docMk/>
            <pc:sldMk cId="0" sldId="256"/>
            <ac:picMk id="13" creationId="{94D42F1E-53F0-2834-72BE-7019EDA6026F}"/>
          </ac:picMkLst>
        </pc:picChg>
        <pc:picChg chg="add mod">
          <ac:chgData name="Poshika B" userId="07a38acd149dfe7b" providerId="LiveId" clId="{72356F2E-848B-47EA-8476-441502A36485}" dt="2026-10-13T06:34:10.761" v="118" actId="14100"/>
          <ac:picMkLst>
            <pc:docMk/>
            <pc:sldMk cId="0" sldId="256"/>
            <ac:picMk id="15" creationId="{CB3D318C-579A-CD96-0C7C-5A49F7E1F747}"/>
          </ac:picMkLst>
        </pc:picChg>
        <pc:picChg chg="add mod">
          <ac:chgData name="Poshika B" userId="07a38acd149dfe7b" providerId="LiveId" clId="{72356F2E-848B-47EA-8476-441502A36485}" dt="2026-10-13T06:34:18.066" v="121" actId="14100"/>
          <ac:picMkLst>
            <pc:docMk/>
            <pc:sldMk cId="0" sldId="256"/>
            <ac:picMk id="17" creationId="{8619A868-05A8-02CF-3631-F56CF30A95EC}"/>
          </ac:picMkLst>
        </pc:picChg>
        <pc:picChg chg="mod">
          <ac:chgData name="Poshika B" userId="07a38acd149dfe7b" providerId="LiveId" clId="{72356F2E-848B-47EA-8476-441502A36485}" dt="2026-10-13T06:33:51.094" v="113" actId="1076"/>
          <ac:picMkLst>
            <pc:docMk/>
            <pc:sldMk cId="0" sldId="256"/>
            <ac:picMk id="23" creationId="{196779B1-37A5-10D9-23DB-07D726FDF972}"/>
          </ac:picMkLst>
        </pc:picChg>
      </pc:sldChg>
      <pc:sldChg chg="modSp mod">
        <pc:chgData name="Poshika B" userId="07a38acd149dfe7b" providerId="LiveId" clId="{72356F2E-848B-47EA-8476-441502A36485}" dt="2026-10-13T08:11:55.907" v="246" actId="20577"/>
        <pc:sldMkLst>
          <pc:docMk/>
          <pc:sldMk cId="0" sldId="258"/>
        </pc:sldMkLst>
        <pc:spChg chg="mod">
          <ac:chgData name="Poshika B" userId="07a38acd149dfe7b" providerId="LiveId" clId="{72356F2E-848B-47EA-8476-441502A36485}" dt="2026-10-13T08:11:55.907" v="246" actId="20577"/>
          <ac:spMkLst>
            <pc:docMk/>
            <pc:sldMk cId="0" sldId="258"/>
            <ac:spMk id="9" creationId="{00000000-0000-0000-0000-000000000000}"/>
          </ac:spMkLst>
        </pc:spChg>
      </pc:sldChg>
      <pc:sldChg chg="modSp mod">
        <pc:chgData name="Poshika B" userId="07a38acd149dfe7b" providerId="LiveId" clId="{72356F2E-848B-47EA-8476-441502A36485}" dt="2026-10-13T08:26:37.563" v="294" actId="20577"/>
        <pc:sldMkLst>
          <pc:docMk/>
          <pc:sldMk cId="601274179" sldId="265"/>
        </pc:sldMkLst>
        <pc:graphicFrameChg chg="modGraphic">
          <ac:chgData name="Poshika B" userId="07a38acd149dfe7b" providerId="LiveId" clId="{72356F2E-848B-47EA-8476-441502A36485}" dt="2026-10-13T08:26:37.563" v="294" actId="20577"/>
          <ac:graphicFrameMkLst>
            <pc:docMk/>
            <pc:sldMk cId="601274179" sldId="265"/>
            <ac:graphicFrameMk id="5" creationId="{AC6620C1-474A-277F-92F5-7E6BBA16649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2519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685800" y="5867400"/>
            <a:ext cx="5486400" cy="4800600"/>
          </a:xfrm>
          <a:prstGeom prst="rect">
            <a:avLst/>
          </a:prstGeom>
        </p:spPr>
        <p:txBody>
          <a:bodyPr/>
          <a:lstStyle/>
          <a:p>
            <a:endParaRPr lang="en-IN" dirty="0"/>
          </a:p>
        </p:txBody>
      </p:sp>
    </p:spTree>
    <p:extLst>
      <p:ext uri="{BB962C8B-B14F-4D97-AF65-F5344CB8AC3E}">
        <p14:creationId xmlns:p14="http://schemas.microsoft.com/office/powerpoint/2010/main" val="4123820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hyperlink" Target="https://www.publicdomainpictures.net/en/view-image.php?image=80234&amp;picture=thank-you-text" TargetMode="External"/><Relationship Id="rId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5" y="487660"/>
            <a:ext cx="2925987" cy="1409998"/>
          </a:xfrm>
          <a:prstGeom prst="rect">
            <a:avLst/>
          </a:prstGeom>
        </p:spPr>
      </p:pic>
      <p:sp>
        <p:nvSpPr>
          <p:cNvPr id="3" name="Shape 0"/>
          <p:cNvSpPr/>
          <p:nvPr/>
        </p:nvSpPr>
        <p:spPr>
          <a:xfrm>
            <a:off x="8534187" y="548580"/>
            <a:ext cx="3047924" cy="487660"/>
          </a:xfrm>
          <a:prstGeom prst="roundRect">
            <a:avLst>
              <a:gd name="adj" fmla="val 49999"/>
            </a:avLst>
          </a:prstGeom>
          <a:solidFill>
            <a:srgbClr val="F8EEEE"/>
          </a:solidFill>
          <a:ln/>
        </p:spPr>
        <p:txBody>
          <a:bodyPr/>
          <a:lstStyle/>
          <a:p>
            <a:endParaRPr lang="en-IN"/>
          </a:p>
        </p:txBody>
      </p:sp>
      <p:sp>
        <p:nvSpPr>
          <p:cNvPr id="4" name="Text 1"/>
          <p:cNvSpPr/>
          <p:nvPr/>
        </p:nvSpPr>
        <p:spPr>
          <a:xfrm>
            <a:off x="8229394" y="636191"/>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Dept. of CSA – BCA</a:t>
            </a:r>
            <a:endParaRPr lang="en-US" sz="1850" dirty="0"/>
          </a:p>
        </p:txBody>
      </p:sp>
      <p:sp>
        <p:nvSpPr>
          <p:cNvPr id="5" name="Shape 2"/>
          <p:cNvSpPr/>
          <p:nvPr/>
        </p:nvSpPr>
        <p:spPr>
          <a:xfrm>
            <a:off x="8534187" y="1182588"/>
            <a:ext cx="3047924" cy="487660"/>
          </a:xfrm>
          <a:prstGeom prst="roundRect">
            <a:avLst>
              <a:gd name="adj" fmla="val 49999"/>
            </a:avLst>
          </a:prstGeom>
          <a:solidFill>
            <a:srgbClr val="F8EEEE"/>
          </a:solidFill>
          <a:ln/>
        </p:spPr>
        <p:txBody>
          <a:bodyPr/>
          <a:lstStyle/>
          <a:p>
            <a:endParaRPr lang="en-IN"/>
          </a:p>
        </p:txBody>
      </p:sp>
      <p:sp>
        <p:nvSpPr>
          <p:cNvPr id="6" name="Text 3"/>
          <p:cNvSpPr/>
          <p:nvPr/>
        </p:nvSpPr>
        <p:spPr>
          <a:xfrm>
            <a:off x="8229394" y="1270198"/>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I Year – I Semester</a:t>
            </a:r>
            <a:endParaRPr lang="en-US" sz="1850" dirty="0"/>
          </a:p>
        </p:txBody>
      </p:sp>
      <p:sp>
        <p:nvSpPr>
          <p:cNvPr id="7" name="Text 4"/>
          <p:cNvSpPr/>
          <p:nvPr/>
        </p:nvSpPr>
        <p:spPr>
          <a:xfrm>
            <a:off x="609585" y="2495363"/>
            <a:ext cx="10972526" cy="772716"/>
          </a:xfrm>
          <a:prstGeom prst="rect">
            <a:avLst/>
          </a:prstGeom>
          <a:noFill/>
          <a:ln/>
        </p:spPr>
        <p:txBody>
          <a:bodyPr wrap="none" lIns="0" tIns="0" rIns="0" bIns="0" rtlCol="0" anchor="t"/>
          <a:lstStyle/>
          <a:p>
            <a:pPr marL="0" indent="0" algn="l">
              <a:lnSpc>
                <a:spcPct val="100000"/>
              </a:lnSpc>
              <a:buNone/>
            </a:pPr>
            <a:r>
              <a:rPr lang="en-US" sz="5050" b="1" kern="100" spc="56" dirty="0">
                <a:solidFill>
                  <a:srgbClr val="1F1A1A"/>
                </a:solidFill>
                <a:latin typeface="Caladea Bold" pitchFamily="34" charset="0"/>
                <a:ea typeface="Caladea Bold" pitchFamily="34" charset="-122"/>
                <a:cs typeface="Caladea Bold" pitchFamily="34" charset="-120"/>
              </a:rPr>
              <a:t>Personal File Organizer</a:t>
            </a:r>
            <a:endParaRPr lang="en-US" sz="5050" dirty="0"/>
          </a:p>
        </p:txBody>
      </p:sp>
      <p:sp>
        <p:nvSpPr>
          <p:cNvPr id="8" name="Shape 5"/>
          <p:cNvSpPr/>
          <p:nvPr/>
        </p:nvSpPr>
        <p:spPr>
          <a:xfrm>
            <a:off x="609585" y="3718520"/>
            <a:ext cx="6339622" cy="548580"/>
          </a:xfrm>
          <a:prstGeom prst="roundRect">
            <a:avLst>
              <a:gd name="adj" fmla="val 49999"/>
            </a:avLst>
          </a:prstGeom>
          <a:solidFill>
            <a:srgbClr val="A90000"/>
          </a:solidFill>
          <a:ln/>
        </p:spPr>
        <p:txBody>
          <a:bodyPr/>
          <a:lstStyle/>
          <a:p>
            <a:endParaRPr lang="en-IN"/>
          </a:p>
        </p:txBody>
      </p:sp>
      <p:sp>
        <p:nvSpPr>
          <p:cNvPr id="9" name="Text 6"/>
          <p:cNvSpPr/>
          <p:nvPr/>
        </p:nvSpPr>
        <p:spPr>
          <a:xfrm>
            <a:off x="304792" y="3816350"/>
            <a:ext cx="6949207" cy="342900"/>
          </a:xfrm>
          <a:prstGeom prst="rect">
            <a:avLst/>
          </a:prstGeom>
          <a:noFill/>
          <a:ln/>
        </p:spPr>
        <p:txBody>
          <a:bodyPr wrap="none" lIns="0" tIns="0" rIns="0" bIns="0" rtlCol="0" anchor="t"/>
          <a:lstStyle/>
          <a:p>
            <a:pPr algn="ctr"/>
            <a:r>
              <a:rPr lang="en-US" b="1" dirty="0">
                <a:solidFill>
                  <a:schemeClr val="bg1"/>
                </a:solidFill>
              </a:rPr>
              <a:t>Team Name: THE NEXT LEVEL</a:t>
            </a:r>
            <a:endParaRPr lang="en-US" dirty="0"/>
          </a:p>
        </p:txBody>
      </p:sp>
      <p:pic>
        <p:nvPicPr>
          <p:cNvPr id="21" name="Picture 20">
            <a:extLst>
              <a:ext uri="{FF2B5EF4-FFF2-40B4-BE49-F238E27FC236}">
                <a16:creationId xmlns:a16="http://schemas.microsoft.com/office/drawing/2014/main" id="{276DC159-B59B-B729-F6DF-8BF7B73EA1FF}"/>
              </a:ext>
            </a:extLst>
          </p:cNvPr>
          <p:cNvPicPr>
            <a:picLocks noChangeAspect="1"/>
          </p:cNvPicPr>
          <p:nvPr/>
        </p:nvPicPr>
        <p:blipFill>
          <a:blip r:embed="rId4"/>
          <a:stretch>
            <a:fillRect/>
          </a:stretch>
        </p:blipFill>
        <p:spPr>
          <a:xfrm>
            <a:off x="11076598" y="6463810"/>
            <a:ext cx="1053199" cy="366330"/>
          </a:xfrm>
          <a:prstGeom prst="rect">
            <a:avLst/>
          </a:prstGeom>
        </p:spPr>
      </p:pic>
      <p:pic>
        <p:nvPicPr>
          <p:cNvPr id="23" name="Picture 22">
            <a:extLst>
              <a:ext uri="{FF2B5EF4-FFF2-40B4-BE49-F238E27FC236}">
                <a16:creationId xmlns:a16="http://schemas.microsoft.com/office/drawing/2014/main" id="{196779B1-37A5-10D9-23DB-07D726FDF972}"/>
              </a:ext>
            </a:extLst>
          </p:cNvPr>
          <p:cNvPicPr>
            <a:picLocks noChangeAspect="1"/>
          </p:cNvPicPr>
          <p:nvPr/>
        </p:nvPicPr>
        <p:blipFill>
          <a:blip r:embed="rId5"/>
          <a:stretch>
            <a:fillRect/>
          </a:stretch>
        </p:blipFill>
        <p:spPr>
          <a:xfrm>
            <a:off x="640811" y="4441422"/>
            <a:ext cx="6277167" cy="1007060"/>
          </a:xfrm>
          <a:prstGeom prst="rect">
            <a:avLst/>
          </a:prstGeom>
        </p:spPr>
      </p:pic>
      <p:pic>
        <p:nvPicPr>
          <p:cNvPr id="11" name="Picture 10">
            <a:extLst>
              <a:ext uri="{FF2B5EF4-FFF2-40B4-BE49-F238E27FC236}">
                <a16:creationId xmlns:a16="http://schemas.microsoft.com/office/drawing/2014/main" id="{DFA32BE8-74EA-CAF8-7CE7-DF3EBC3A5E74}"/>
              </a:ext>
            </a:extLst>
          </p:cNvPr>
          <p:cNvPicPr>
            <a:picLocks noChangeAspect="1"/>
          </p:cNvPicPr>
          <p:nvPr/>
        </p:nvPicPr>
        <p:blipFill>
          <a:blip r:embed="rId5"/>
          <a:stretch>
            <a:fillRect/>
          </a:stretch>
        </p:blipFill>
        <p:spPr>
          <a:xfrm>
            <a:off x="640815" y="5363280"/>
            <a:ext cx="6277163" cy="1007060"/>
          </a:xfrm>
          <a:prstGeom prst="rect">
            <a:avLst/>
          </a:prstGeom>
        </p:spPr>
      </p:pic>
      <p:pic>
        <p:nvPicPr>
          <p:cNvPr id="15" name="Picture 14">
            <a:extLst>
              <a:ext uri="{FF2B5EF4-FFF2-40B4-BE49-F238E27FC236}">
                <a16:creationId xmlns:a16="http://schemas.microsoft.com/office/drawing/2014/main" id="{CB3D318C-579A-CD96-0C7C-5A49F7E1F747}"/>
              </a:ext>
            </a:extLst>
          </p:cNvPr>
          <p:cNvPicPr>
            <a:picLocks noChangeAspect="1"/>
          </p:cNvPicPr>
          <p:nvPr/>
        </p:nvPicPr>
        <p:blipFill>
          <a:blip r:embed="rId6"/>
          <a:stretch>
            <a:fillRect/>
          </a:stretch>
        </p:blipFill>
        <p:spPr>
          <a:xfrm>
            <a:off x="1381307" y="5638899"/>
            <a:ext cx="1716456" cy="434378"/>
          </a:xfrm>
          <a:prstGeom prst="rect">
            <a:avLst/>
          </a:prstGeom>
        </p:spPr>
      </p:pic>
      <p:pic>
        <p:nvPicPr>
          <p:cNvPr id="17" name="Picture 16">
            <a:extLst>
              <a:ext uri="{FF2B5EF4-FFF2-40B4-BE49-F238E27FC236}">
                <a16:creationId xmlns:a16="http://schemas.microsoft.com/office/drawing/2014/main" id="{8619A868-05A8-02CF-3631-F56CF30A95EC}"/>
              </a:ext>
            </a:extLst>
          </p:cNvPr>
          <p:cNvPicPr>
            <a:picLocks noChangeAspect="1"/>
          </p:cNvPicPr>
          <p:nvPr/>
        </p:nvPicPr>
        <p:blipFill>
          <a:blip r:embed="rId6"/>
          <a:stretch>
            <a:fillRect/>
          </a:stretch>
        </p:blipFill>
        <p:spPr>
          <a:xfrm>
            <a:off x="4488401" y="5638899"/>
            <a:ext cx="1740960" cy="434378"/>
          </a:xfrm>
          <a:prstGeom prst="rect">
            <a:avLst/>
          </a:prstGeom>
        </p:spPr>
      </p:pic>
      <p:sp>
        <p:nvSpPr>
          <p:cNvPr id="22" name="Text 3">
            <a:extLst>
              <a:ext uri="{FF2B5EF4-FFF2-40B4-BE49-F238E27FC236}">
                <a16:creationId xmlns:a16="http://schemas.microsoft.com/office/drawing/2014/main" id="{0205E6E1-2891-34FA-715C-569122B84ACC}"/>
              </a:ext>
            </a:extLst>
          </p:cNvPr>
          <p:cNvSpPr/>
          <p:nvPr/>
        </p:nvSpPr>
        <p:spPr>
          <a:xfrm>
            <a:off x="4472818" y="5595716"/>
            <a:ext cx="1623030" cy="681678"/>
          </a:xfrm>
          <a:prstGeom prst="rect">
            <a:avLst/>
          </a:prstGeom>
          <a:noFill/>
          <a:ln/>
        </p:spPr>
        <p:txBody>
          <a:bodyPr wrap="none" lIns="0" tIns="0" rIns="0" bIns="0" rtlCol="0" anchor="t"/>
          <a:lstStyle/>
          <a:p>
            <a:pPr marL="0" indent="0">
              <a:lnSpc>
                <a:spcPct val="125000"/>
              </a:lnSpc>
              <a:buNone/>
            </a:pPr>
            <a:r>
              <a:rPr lang="en-US" sz="1400" b="1" dirty="0">
                <a:latin typeface="Carlito Bold" panose="020B0604020202020204" charset="0"/>
                <a:cs typeface="Carlito Bold" panose="020B0604020202020204" charset="0"/>
              </a:rPr>
              <a:t>POOJA </a:t>
            </a:r>
          </a:p>
          <a:p>
            <a:pPr marL="0" indent="0">
              <a:lnSpc>
                <a:spcPct val="125000"/>
              </a:lnSpc>
              <a:buNone/>
            </a:pPr>
            <a:r>
              <a:rPr lang="en-US" sz="1400" b="1" dirty="0">
                <a:solidFill>
                  <a:schemeClr val="bg2">
                    <a:lumMod val="75000"/>
                  </a:schemeClr>
                </a:solidFill>
                <a:latin typeface="Carlito Bold" panose="020B0604020202020204" charset="0"/>
                <a:cs typeface="Carlito Bold" panose="020B0604020202020204" charset="0"/>
              </a:rPr>
              <a:t>R.No: 2610520044</a:t>
            </a:r>
            <a:endParaRPr lang="en-US" sz="1400" dirty="0">
              <a:solidFill>
                <a:schemeClr val="bg2">
                  <a:lumMod val="75000"/>
                </a:schemeClr>
              </a:solidFill>
              <a:latin typeface="Carlito Bold" panose="020B0604020202020204" charset="0"/>
              <a:cs typeface="Carlito Bold" panose="020B0604020202020204" charset="0"/>
            </a:endParaRPr>
          </a:p>
        </p:txBody>
      </p:sp>
      <p:sp>
        <p:nvSpPr>
          <p:cNvPr id="25" name="Text 3">
            <a:extLst>
              <a:ext uri="{FF2B5EF4-FFF2-40B4-BE49-F238E27FC236}">
                <a16:creationId xmlns:a16="http://schemas.microsoft.com/office/drawing/2014/main" id="{911B1D91-EBD1-58E2-64E9-0FF8D8C93DE3}"/>
              </a:ext>
            </a:extLst>
          </p:cNvPr>
          <p:cNvSpPr/>
          <p:nvPr/>
        </p:nvSpPr>
        <p:spPr>
          <a:xfrm>
            <a:off x="1437290" y="5595716"/>
            <a:ext cx="1501853" cy="590076"/>
          </a:xfrm>
          <a:prstGeom prst="rect">
            <a:avLst/>
          </a:prstGeom>
          <a:noFill/>
          <a:ln/>
        </p:spPr>
        <p:txBody>
          <a:bodyPr wrap="none" lIns="0" tIns="0" rIns="0" bIns="0" rtlCol="0" anchor="t"/>
          <a:lstStyle/>
          <a:p>
            <a:pPr marL="0" indent="0">
              <a:lnSpc>
                <a:spcPct val="125000"/>
              </a:lnSpc>
              <a:buNone/>
            </a:pPr>
            <a:r>
              <a:rPr lang="en-US" sz="1400" dirty="0">
                <a:latin typeface="Carlito Bold" panose="020B0604020202020204" charset="0"/>
                <a:cs typeface="Carlito Bold" panose="020B0604020202020204" charset="0"/>
              </a:rPr>
              <a:t>J SHOWRYA KIRAN </a:t>
            </a:r>
          </a:p>
          <a:p>
            <a:pPr marL="0" indent="0">
              <a:lnSpc>
                <a:spcPct val="125000"/>
              </a:lnSpc>
              <a:buNone/>
            </a:pPr>
            <a:r>
              <a:rPr lang="en-US" sz="1400" dirty="0" err="1">
                <a:solidFill>
                  <a:schemeClr val="bg2">
                    <a:lumMod val="50000"/>
                  </a:schemeClr>
                </a:solidFill>
                <a:latin typeface="Carlito Bold" panose="020B0604020202020204" charset="0"/>
                <a:cs typeface="Carlito Bold" panose="020B0604020202020204" charset="0"/>
              </a:rPr>
              <a:t>R.No</a:t>
            </a:r>
            <a:r>
              <a:rPr lang="en-US" sz="1400" dirty="0">
                <a:solidFill>
                  <a:schemeClr val="bg2">
                    <a:lumMod val="50000"/>
                  </a:schemeClr>
                </a:solidFill>
                <a:latin typeface="Carlito Bold" panose="020B0604020202020204" charset="0"/>
                <a:cs typeface="Carlito Bold" panose="020B0604020202020204" charset="0"/>
              </a:rPr>
              <a:t>: 2610520029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5" y="487660"/>
            <a:ext cx="2925987" cy="1409998"/>
          </a:xfrm>
          <a:prstGeom prst="rect">
            <a:avLst/>
          </a:prstGeom>
        </p:spPr>
      </p:pic>
      <p:sp>
        <p:nvSpPr>
          <p:cNvPr id="3" name="Shape 0"/>
          <p:cNvSpPr/>
          <p:nvPr/>
        </p:nvSpPr>
        <p:spPr>
          <a:xfrm>
            <a:off x="8534187" y="548580"/>
            <a:ext cx="3047924" cy="487660"/>
          </a:xfrm>
          <a:prstGeom prst="roundRect">
            <a:avLst>
              <a:gd name="adj" fmla="val 49999"/>
            </a:avLst>
          </a:prstGeom>
          <a:solidFill>
            <a:srgbClr val="F8EEEE"/>
          </a:solidFill>
          <a:ln/>
        </p:spPr>
        <p:txBody>
          <a:bodyPr/>
          <a:lstStyle/>
          <a:p>
            <a:endParaRPr lang="en-IN"/>
          </a:p>
        </p:txBody>
      </p:sp>
      <p:sp>
        <p:nvSpPr>
          <p:cNvPr id="4" name="Text 1"/>
          <p:cNvSpPr/>
          <p:nvPr/>
        </p:nvSpPr>
        <p:spPr>
          <a:xfrm>
            <a:off x="8229394" y="636191"/>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Dept. of CSA – BCA</a:t>
            </a:r>
            <a:endParaRPr lang="en-US" sz="1850" dirty="0"/>
          </a:p>
        </p:txBody>
      </p:sp>
      <p:sp>
        <p:nvSpPr>
          <p:cNvPr id="5" name="Shape 2"/>
          <p:cNvSpPr/>
          <p:nvPr/>
        </p:nvSpPr>
        <p:spPr>
          <a:xfrm>
            <a:off x="8534187" y="1182588"/>
            <a:ext cx="3047924" cy="487660"/>
          </a:xfrm>
          <a:prstGeom prst="roundRect">
            <a:avLst>
              <a:gd name="adj" fmla="val 49999"/>
            </a:avLst>
          </a:prstGeom>
          <a:solidFill>
            <a:srgbClr val="F8EEEE"/>
          </a:solidFill>
          <a:ln/>
        </p:spPr>
        <p:txBody>
          <a:bodyPr/>
          <a:lstStyle/>
          <a:p>
            <a:endParaRPr lang="en-IN"/>
          </a:p>
        </p:txBody>
      </p:sp>
      <p:sp>
        <p:nvSpPr>
          <p:cNvPr id="6" name="Text 3"/>
          <p:cNvSpPr/>
          <p:nvPr/>
        </p:nvSpPr>
        <p:spPr>
          <a:xfrm>
            <a:off x="8229394" y="1270198"/>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I Year – I Semester</a:t>
            </a:r>
            <a:endParaRPr lang="en-US" sz="1850" dirty="0"/>
          </a:p>
        </p:txBody>
      </p:sp>
      <p:sp>
        <p:nvSpPr>
          <p:cNvPr id="7" name="Text 4"/>
          <p:cNvSpPr/>
          <p:nvPr/>
        </p:nvSpPr>
        <p:spPr>
          <a:xfrm>
            <a:off x="609585" y="2006600"/>
            <a:ext cx="10972526" cy="670520"/>
          </a:xfrm>
          <a:prstGeom prst="rect">
            <a:avLst/>
          </a:prstGeom>
          <a:noFill/>
          <a:ln/>
        </p:spPr>
        <p:txBody>
          <a:bodyPr wrap="none" lIns="0" tIns="0" rIns="0" bIns="0" rtlCol="0" anchor="t"/>
          <a:lstStyle/>
          <a:p>
            <a:pPr marL="0" indent="0" algn="l">
              <a:lnSpc>
                <a:spcPct val="100000"/>
              </a:lnSpc>
              <a:buNone/>
            </a:pPr>
            <a:r>
              <a:rPr lang="en-US" sz="4400" b="1" kern="100" spc="56" dirty="0">
                <a:solidFill>
                  <a:srgbClr val="1F1A1A"/>
                </a:solidFill>
                <a:latin typeface="Caladea Bold" pitchFamily="34" charset="0"/>
                <a:ea typeface="Caladea Bold" pitchFamily="34" charset="-122"/>
                <a:cs typeface="Caladea Bold" pitchFamily="34" charset="-120"/>
              </a:rPr>
              <a:t>Introduction</a:t>
            </a:r>
            <a:endParaRPr lang="en-US" sz="4400" dirty="0"/>
          </a:p>
        </p:txBody>
      </p:sp>
      <p:sp>
        <p:nvSpPr>
          <p:cNvPr id="8" name="Shape 5"/>
          <p:cNvSpPr/>
          <p:nvPr/>
        </p:nvSpPr>
        <p:spPr>
          <a:xfrm>
            <a:off x="609585" y="3111500"/>
            <a:ext cx="10972526" cy="3429000"/>
          </a:xfrm>
          <a:prstGeom prst="roundRect">
            <a:avLst>
              <a:gd name="adj" fmla="val 3413"/>
            </a:avLst>
          </a:prstGeom>
          <a:solidFill>
            <a:srgbClr val="F8EEEE"/>
          </a:solidFill>
          <a:ln/>
        </p:spPr>
        <p:txBody>
          <a:bodyPr/>
          <a:lstStyle/>
          <a:p>
            <a:endParaRPr lang="en-IN"/>
          </a:p>
        </p:txBody>
      </p:sp>
      <p:sp>
        <p:nvSpPr>
          <p:cNvPr id="9" name="Text 6"/>
          <p:cNvSpPr/>
          <p:nvPr/>
        </p:nvSpPr>
        <p:spPr>
          <a:xfrm>
            <a:off x="838179" y="3495642"/>
            <a:ext cx="10515337" cy="2726167"/>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2400" b="1" dirty="0">
                <a:solidFill>
                  <a:srgbClr val="000000"/>
                </a:solidFill>
                <a:latin typeface="Carlito Bold" pitchFamily="34" charset="0"/>
                <a:ea typeface="Carlito Bold" pitchFamily="34" charset="-122"/>
                <a:cs typeface="Carlito Bold" pitchFamily="34" charset="-120"/>
              </a:rPr>
              <a:t>Overview of Linux Shell: Linux provides a powerful command-line environment where users can automate repetitive tasks using shell scripts (Bash).</a:t>
            </a:r>
            <a:endParaRPr lang="en-US" sz="2400" dirty="0"/>
          </a:p>
          <a:p>
            <a:pPr marL="365760" indent="-365760" algn="l">
              <a:lnSpc>
                <a:spcPct val="125000"/>
              </a:lnSpc>
              <a:buSzPct val="100000"/>
              <a:buChar char="•"/>
            </a:pPr>
            <a:r>
              <a:rPr lang="en-US" sz="2400" b="1" dirty="0">
                <a:solidFill>
                  <a:srgbClr val="000000"/>
                </a:solidFill>
                <a:latin typeface="Carlito Bold" pitchFamily="34" charset="0"/>
                <a:ea typeface="Carlito Bold" pitchFamily="34" charset="-122"/>
                <a:cs typeface="Carlito Bold" pitchFamily="34" charset="-120"/>
              </a:rPr>
              <a:t>Project Concept: Utilizes Bash script commands to organize files, create directories, and manage sample files.</a:t>
            </a:r>
            <a:endParaRPr lang="en-US" sz="2400" dirty="0"/>
          </a:p>
          <a:p>
            <a:pPr marL="365760" indent="-365760" algn="l">
              <a:lnSpc>
                <a:spcPct val="125000"/>
              </a:lnSpc>
              <a:buSzPct val="100000"/>
              <a:buChar char="•"/>
            </a:pPr>
            <a:r>
              <a:rPr lang="en-US" sz="2400" b="1" dirty="0">
                <a:solidFill>
                  <a:srgbClr val="000000"/>
                </a:solidFill>
                <a:latin typeface="Carlito Bold" pitchFamily="34" charset="0"/>
                <a:ea typeface="Carlito Bold" pitchFamily="34" charset="-122"/>
                <a:cs typeface="Carlito Bold" pitchFamily="34" charset="-120"/>
              </a:rPr>
              <a:t>Environment: Ubuntu Linux / WSL</a:t>
            </a:r>
            <a:endParaRPr lang="en-US" sz="2400" dirty="0"/>
          </a:p>
          <a:p>
            <a:pPr marL="365760" indent="-365760" algn="l">
              <a:lnSpc>
                <a:spcPct val="125000"/>
              </a:lnSpc>
              <a:buSzPct val="100000"/>
              <a:buChar char="•"/>
            </a:pPr>
            <a:r>
              <a:rPr lang="en-US" sz="2400" b="1" dirty="0">
                <a:solidFill>
                  <a:srgbClr val="000000"/>
                </a:solidFill>
                <a:latin typeface="Carlito Bold" pitchFamily="34" charset="0"/>
                <a:ea typeface="Carlito Bold" pitchFamily="34" charset="-122"/>
                <a:cs typeface="Carlito Bold" pitchFamily="34" charset="-120"/>
              </a:rPr>
              <a:t>Technology: Bash Shell Scripting</a:t>
            </a:r>
            <a:endParaRPr lang="en-US" sz="2400" dirty="0"/>
          </a:p>
        </p:txBody>
      </p:sp>
      <p:pic>
        <p:nvPicPr>
          <p:cNvPr id="11" name="Picture 10">
            <a:extLst>
              <a:ext uri="{FF2B5EF4-FFF2-40B4-BE49-F238E27FC236}">
                <a16:creationId xmlns:a16="http://schemas.microsoft.com/office/drawing/2014/main" id="{D84006FD-94E3-31D7-218E-EA5E641549F0}"/>
              </a:ext>
            </a:extLst>
          </p:cNvPr>
          <p:cNvPicPr>
            <a:picLocks noChangeAspect="1"/>
          </p:cNvPicPr>
          <p:nvPr/>
        </p:nvPicPr>
        <p:blipFill>
          <a:blip r:embed="rId4"/>
          <a:stretch>
            <a:fillRect/>
          </a:stretch>
        </p:blipFill>
        <p:spPr>
          <a:xfrm>
            <a:off x="11076598" y="6463810"/>
            <a:ext cx="1053199" cy="3663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5" y="487660"/>
            <a:ext cx="2925987" cy="1409998"/>
          </a:xfrm>
          <a:prstGeom prst="rect">
            <a:avLst/>
          </a:prstGeom>
        </p:spPr>
      </p:pic>
      <p:sp>
        <p:nvSpPr>
          <p:cNvPr id="3" name="Shape 0"/>
          <p:cNvSpPr/>
          <p:nvPr/>
        </p:nvSpPr>
        <p:spPr>
          <a:xfrm>
            <a:off x="8534187" y="548580"/>
            <a:ext cx="3047924" cy="487660"/>
          </a:xfrm>
          <a:prstGeom prst="roundRect">
            <a:avLst>
              <a:gd name="adj" fmla="val 49999"/>
            </a:avLst>
          </a:prstGeom>
          <a:solidFill>
            <a:srgbClr val="F8EEEE"/>
          </a:solidFill>
          <a:ln/>
        </p:spPr>
        <p:txBody>
          <a:bodyPr/>
          <a:lstStyle/>
          <a:p>
            <a:endParaRPr lang="en-IN"/>
          </a:p>
        </p:txBody>
      </p:sp>
      <p:sp>
        <p:nvSpPr>
          <p:cNvPr id="4" name="Text 1"/>
          <p:cNvSpPr/>
          <p:nvPr/>
        </p:nvSpPr>
        <p:spPr>
          <a:xfrm>
            <a:off x="8229394" y="636191"/>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Dept. of CSA – BCA</a:t>
            </a:r>
            <a:endParaRPr lang="en-US" sz="1850" dirty="0"/>
          </a:p>
        </p:txBody>
      </p:sp>
      <p:sp>
        <p:nvSpPr>
          <p:cNvPr id="5" name="Shape 2"/>
          <p:cNvSpPr/>
          <p:nvPr/>
        </p:nvSpPr>
        <p:spPr>
          <a:xfrm>
            <a:off x="8534187" y="1182588"/>
            <a:ext cx="3047924" cy="487660"/>
          </a:xfrm>
          <a:prstGeom prst="roundRect">
            <a:avLst>
              <a:gd name="adj" fmla="val 49999"/>
            </a:avLst>
          </a:prstGeom>
          <a:solidFill>
            <a:srgbClr val="F8EEEE"/>
          </a:solidFill>
          <a:ln/>
        </p:spPr>
        <p:txBody>
          <a:bodyPr/>
          <a:lstStyle/>
          <a:p>
            <a:endParaRPr lang="en-IN"/>
          </a:p>
        </p:txBody>
      </p:sp>
      <p:sp>
        <p:nvSpPr>
          <p:cNvPr id="6" name="Text 3"/>
          <p:cNvSpPr/>
          <p:nvPr/>
        </p:nvSpPr>
        <p:spPr>
          <a:xfrm>
            <a:off x="8229394" y="1270198"/>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I Year – I Semester</a:t>
            </a:r>
            <a:endParaRPr lang="en-US" sz="1850" dirty="0"/>
          </a:p>
        </p:txBody>
      </p:sp>
      <p:sp>
        <p:nvSpPr>
          <p:cNvPr id="7" name="Text 4"/>
          <p:cNvSpPr/>
          <p:nvPr/>
        </p:nvSpPr>
        <p:spPr>
          <a:xfrm>
            <a:off x="609585" y="2006600"/>
            <a:ext cx="10972526" cy="640060"/>
          </a:xfrm>
          <a:prstGeom prst="rect">
            <a:avLst/>
          </a:prstGeom>
          <a:noFill/>
          <a:ln/>
        </p:spPr>
        <p:txBody>
          <a:bodyPr wrap="none" lIns="0" tIns="0" rIns="0" bIns="0" rtlCol="0" anchor="t"/>
          <a:lstStyle/>
          <a:p>
            <a:pPr marL="0" indent="0" algn="l">
              <a:lnSpc>
                <a:spcPct val="100000"/>
              </a:lnSpc>
              <a:buNone/>
            </a:pPr>
            <a:r>
              <a:rPr lang="en-US" sz="4200" b="1" kern="100" spc="56" dirty="0">
                <a:solidFill>
                  <a:srgbClr val="1F1A1A"/>
                </a:solidFill>
                <a:latin typeface="Caladea Bold" pitchFamily="34" charset="0"/>
                <a:ea typeface="Caladea Bold" pitchFamily="34" charset="-122"/>
                <a:cs typeface="Caladea Bold" pitchFamily="34" charset="-120"/>
              </a:rPr>
              <a:t>Problem Statement</a:t>
            </a:r>
            <a:endParaRPr lang="en-US" sz="4200" dirty="0"/>
          </a:p>
        </p:txBody>
      </p:sp>
      <p:sp>
        <p:nvSpPr>
          <p:cNvPr id="8" name="Shape 5"/>
          <p:cNvSpPr/>
          <p:nvPr/>
        </p:nvSpPr>
        <p:spPr>
          <a:xfrm>
            <a:off x="609585" y="3111500"/>
            <a:ext cx="10972526" cy="3429000"/>
          </a:xfrm>
          <a:prstGeom prst="roundRect">
            <a:avLst>
              <a:gd name="adj" fmla="val 3413"/>
            </a:avLst>
          </a:prstGeom>
          <a:solidFill>
            <a:srgbClr val="F8EEEE"/>
          </a:solidFill>
          <a:ln/>
        </p:spPr>
        <p:txBody>
          <a:bodyPr/>
          <a:lstStyle/>
          <a:p>
            <a:endParaRPr lang="en-IN"/>
          </a:p>
        </p:txBody>
      </p:sp>
      <p:sp>
        <p:nvSpPr>
          <p:cNvPr id="9" name="Text 6"/>
          <p:cNvSpPr/>
          <p:nvPr/>
        </p:nvSpPr>
        <p:spPr>
          <a:xfrm>
            <a:off x="838179" y="3547298"/>
            <a:ext cx="10515337" cy="2449109"/>
          </a:xfrm>
          <a:prstGeom prst="rect">
            <a:avLst/>
          </a:prstGeom>
          <a:noFill/>
          <a:ln/>
        </p:spPr>
        <p:txBody>
          <a:bodyPr wrap="square" lIns="0" tIns="0" rIns="0" bIns="0" rtlCol="0" anchor="t">
            <a:normAutofit/>
          </a:bodyPr>
          <a:lstStyle/>
          <a:p>
            <a:pPr marL="365760" indent="-365760">
              <a:buSzPct val="100000"/>
              <a:buChar char="•"/>
            </a:pPr>
            <a:r>
              <a:rPr lang="en-IN" dirty="0"/>
              <a:t>Alex just started a new job as a junior digital archivist at a local media firm. On their first day, Alex notices that the digital workspace is a complete mess—important project documents and image assets are mixed together without any structure. To make matters worse, team members constantly struggle to locate which files were created first during a project audit. </a:t>
            </a:r>
          </a:p>
          <a:p>
            <a:pPr marL="365760" indent="-365760">
              <a:buSzPct val="100000"/>
              <a:buChar char="•"/>
            </a:pPr>
            <a:r>
              <a:rPr lang="en-IN" dirty="0"/>
              <a:t>Alex's team lead gives them a task: </a:t>
            </a:r>
            <a:r>
              <a:rPr lang="en-IN" b="1" dirty="0"/>
              <a:t>Write an automated, beginner-friendly script to set up an organized folder system for new projects.</a:t>
            </a:r>
            <a:endParaRPr lang="en-US" dirty="0"/>
          </a:p>
        </p:txBody>
      </p:sp>
      <p:pic>
        <p:nvPicPr>
          <p:cNvPr id="11" name="Picture 10">
            <a:extLst>
              <a:ext uri="{FF2B5EF4-FFF2-40B4-BE49-F238E27FC236}">
                <a16:creationId xmlns:a16="http://schemas.microsoft.com/office/drawing/2014/main" id="{AE7938AA-72DE-DD3F-4EE5-D5C2F640462C}"/>
              </a:ext>
            </a:extLst>
          </p:cNvPr>
          <p:cNvPicPr>
            <a:picLocks noChangeAspect="1"/>
          </p:cNvPicPr>
          <p:nvPr/>
        </p:nvPicPr>
        <p:blipFill>
          <a:blip r:embed="rId4"/>
          <a:stretch>
            <a:fillRect/>
          </a:stretch>
        </p:blipFill>
        <p:spPr>
          <a:xfrm>
            <a:off x="11076598" y="6463810"/>
            <a:ext cx="1053199" cy="3663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1D0E7B2-AD99-E4D2-EAA7-7A632D3786F8}"/>
              </a:ext>
            </a:extLst>
          </p:cNvPr>
          <p:cNvPicPr>
            <a:picLocks noChangeAspect="1"/>
          </p:cNvPicPr>
          <p:nvPr/>
        </p:nvPicPr>
        <p:blipFill>
          <a:blip r:embed="rId3"/>
          <a:stretch>
            <a:fillRect/>
          </a:stretch>
        </p:blipFill>
        <p:spPr>
          <a:xfrm>
            <a:off x="10860834" y="6463810"/>
            <a:ext cx="1268964" cy="366330"/>
          </a:xfrm>
          <a:prstGeom prst="rect">
            <a:avLst/>
          </a:prstGeom>
        </p:spPr>
      </p:pic>
      <p:pic>
        <p:nvPicPr>
          <p:cNvPr id="2" name="Image 0" descr="preencoded.png"/>
          <p:cNvPicPr>
            <a:picLocks noChangeAspect="1"/>
          </p:cNvPicPr>
          <p:nvPr/>
        </p:nvPicPr>
        <p:blipFill>
          <a:blip r:embed="rId4"/>
          <a:stretch>
            <a:fillRect/>
          </a:stretch>
        </p:blipFill>
        <p:spPr>
          <a:xfrm>
            <a:off x="609585" y="487660"/>
            <a:ext cx="2925987" cy="1409998"/>
          </a:xfrm>
          <a:prstGeom prst="rect">
            <a:avLst/>
          </a:prstGeom>
        </p:spPr>
      </p:pic>
      <p:sp>
        <p:nvSpPr>
          <p:cNvPr id="3" name="Shape 0"/>
          <p:cNvSpPr/>
          <p:nvPr/>
        </p:nvSpPr>
        <p:spPr>
          <a:xfrm>
            <a:off x="8534187" y="548580"/>
            <a:ext cx="3047924" cy="487660"/>
          </a:xfrm>
          <a:prstGeom prst="roundRect">
            <a:avLst>
              <a:gd name="adj" fmla="val 49999"/>
            </a:avLst>
          </a:prstGeom>
          <a:solidFill>
            <a:srgbClr val="F8EEEE"/>
          </a:solidFill>
          <a:ln/>
        </p:spPr>
        <p:txBody>
          <a:bodyPr/>
          <a:lstStyle/>
          <a:p>
            <a:endParaRPr lang="en-IN"/>
          </a:p>
        </p:txBody>
      </p:sp>
      <p:sp>
        <p:nvSpPr>
          <p:cNvPr id="4" name="Text 1"/>
          <p:cNvSpPr/>
          <p:nvPr/>
        </p:nvSpPr>
        <p:spPr>
          <a:xfrm>
            <a:off x="8229394" y="636191"/>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Dept. of CSA – BCA</a:t>
            </a:r>
            <a:endParaRPr lang="en-US" sz="1850" dirty="0"/>
          </a:p>
        </p:txBody>
      </p:sp>
      <p:sp>
        <p:nvSpPr>
          <p:cNvPr id="5" name="Shape 2"/>
          <p:cNvSpPr/>
          <p:nvPr/>
        </p:nvSpPr>
        <p:spPr>
          <a:xfrm>
            <a:off x="8534187" y="1182588"/>
            <a:ext cx="3047924" cy="487660"/>
          </a:xfrm>
          <a:prstGeom prst="roundRect">
            <a:avLst>
              <a:gd name="adj" fmla="val 49999"/>
            </a:avLst>
          </a:prstGeom>
          <a:solidFill>
            <a:srgbClr val="F8EEEE"/>
          </a:solidFill>
          <a:ln/>
        </p:spPr>
        <p:txBody>
          <a:bodyPr/>
          <a:lstStyle/>
          <a:p>
            <a:endParaRPr lang="en-IN"/>
          </a:p>
        </p:txBody>
      </p:sp>
      <p:sp>
        <p:nvSpPr>
          <p:cNvPr id="6" name="Text 3"/>
          <p:cNvSpPr/>
          <p:nvPr/>
        </p:nvSpPr>
        <p:spPr>
          <a:xfrm>
            <a:off x="8229394" y="1270198"/>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I Year – I Semester</a:t>
            </a:r>
            <a:endParaRPr lang="en-US" sz="1850" dirty="0"/>
          </a:p>
        </p:txBody>
      </p:sp>
      <p:sp>
        <p:nvSpPr>
          <p:cNvPr id="7" name="Text 4"/>
          <p:cNvSpPr/>
          <p:nvPr/>
        </p:nvSpPr>
        <p:spPr>
          <a:xfrm>
            <a:off x="609585" y="2097088"/>
            <a:ext cx="10972526" cy="609600"/>
          </a:xfrm>
          <a:prstGeom prst="rect">
            <a:avLst/>
          </a:prstGeom>
          <a:noFill/>
          <a:ln/>
        </p:spPr>
        <p:txBody>
          <a:bodyPr wrap="none" lIns="0" tIns="0" rIns="0" bIns="0" rtlCol="0" anchor="t"/>
          <a:lstStyle/>
          <a:p>
            <a:pPr marL="0" indent="0" algn="l">
              <a:lnSpc>
                <a:spcPct val="100000"/>
              </a:lnSpc>
              <a:buNone/>
            </a:pPr>
            <a:r>
              <a:rPr lang="en-US" sz="4000" b="1" kern="100" spc="56" dirty="0">
                <a:solidFill>
                  <a:srgbClr val="1F1A1A"/>
                </a:solidFill>
                <a:latin typeface="Caladea Bold" pitchFamily="34" charset="0"/>
                <a:ea typeface="Caladea Bold" pitchFamily="34" charset="-122"/>
                <a:cs typeface="Caladea Bold" pitchFamily="34" charset="-120"/>
              </a:rPr>
              <a:t>Objectives &amp; Scope of the project </a:t>
            </a:r>
            <a:endParaRPr lang="en-US" sz="4000" dirty="0"/>
          </a:p>
        </p:txBody>
      </p:sp>
      <p:sp>
        <p:nvSpPr>
          <p:cNvPr id="8" name="Shape 5"/>
          <p:cNvSpPr/>
          <p:nvPr/>
        </p:nvSpPr>
        <p:spPr>
          <a:xfrm>
            <a:off x="609585" y="3031666"/>
            <a:ext cx="5257668" cy="3695700"/>
          </a:xfrm>
          <a:prstGeom prst="roundRect">
            <a:avLst>
              <a:gd name="adj" fmla="val 3167"/>
            </a:avLst>
          </a:prstGeom>
          <a:solidFill>
            <a:srgbClr val="F8EEEE"/>
          </a:solidFill>
          <a:ln/>
        </p:spPr>
        <p:txBody>
          <a:bodyPr/>
          <a:lstStyle/>
          <a:p>
            <a:endParaRPr lang="en-IN"/>
          </a:p>
        </p:txBody>
      </p:sp>
      <p:sp>
        <p:nvSpPr>
          <p:cNvPr id="9" name="Text 6"/>
          <p:cNvSpPr/>
          <p:nvPr/>
        </p:nvSpPr>
        <p:spPr>
          <a:xfrm>
            <a:off x="812780" y="3314700"/>
            <a:ext cx="4851279" cy="457200"/>
          </a:xfrm>
          <a:prstGeom prst="rect">
            <a:avLst/>
          </a:prstGeom>
          <a:noFill/>
          <a:ln/>
        </p:spPr>
        <p:txBody>
          <a:bodyPr wrap="none" lIns="0" tIns="0" rIns="0" bIns="0" rtlCol="0" anchor="t"/>
          <a:lstStyle/>
          <a:p>
            <a:pPr marL="0" indent="0" algn="ctr">
              <a:lnSpc>
                <a:spcPct val="100000"/>
              </a:lnSpc>
              <a:buNone/>
            </a:pPr>
            <a:r>
              <a:rPr lang="en-US" sz="3000" b="1" dirty="0">
                <a:solidFill>
                  <a:srgbClr val="000000"/>
                </a:solidFill>
                <a:latin typeface="Caladea Bold" pitchFamily="34" charset="0"/>
                <a:ea typeface="Caladea Bold" pitchFamily="34" charset="-122"/>
                <a:cs typeface="Caladea Bold" pitchFamily="34" charset="-120"/>
              </a:rPr>
              <a:t>Objectives</a:t>
            </a:r>
            <a:endParaRPr lang="en-US" sz="3000" dirty="0"/>
          </a:p>
        </p:txBody>
      </p:sp>
      <p:sp>
        <p:nvSpPr>
          <p:cNvPr id="10" name="Text 7"/>
          <p:cNvSpPr/>
          <p:nvPr/>
        </p:nvSpPr>
        <p:spPr>
          <a:xfrm>
            <a:off x="812780" y="4111625"/>
            <a:ext cx="4851279" cy="224155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Practice basic Linux command-line and Bash scripting skills.</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Create sample files using </a:t>
            </a:r>
            <a:r>
              <a:rPr lang="en-US" sz="1800" b="1" dirty="0">
                <a:solidFill>
                  <a:srgbClr val="000000"/>
                </a:solidFill>
                <a:highlight>
                  <a:srgbClr val="F2F2F2"/>
                </a:highlight>
                <a:latin typeface="Consolas" pitchFamily="34" charset="0"/>
                <a:ea typeface="Consolas" pitchFamily="34" charset="-122"/>
                <a:cs typeface="Consolas" pitchFamily="34" charset="-120"/>
              </a:rPr>
              <a:t>touch</a:t>
            </a:r>
            <a:r>
              <a:rPr lang="en-US" sz="1800" b="1" dirty="0">
                <a:solidFill>
                  <a:srgbClr val="000000"/>
                </a:solidFill>
                <a:latin typeface="Carlito Bold" pitchFamily="34" charset="0"/>
                <a:ea typeface="Carlito Bold" pitchFamily="34" charset="-122"/>
                <a:cs typeface="Carlito Bold" pitchFamily="34" charset="-120"/>
              </a:rPr>
              <a:t> within specific folders.</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Format text outputs cleanly using </a:t>
            </a:r>
            <a:r>
              <a:rPr lang="en-US" sz="1800" b="1" dirty="0">
                <a:solidFill>
                  <a:srgbClr val="000000"/>
                </a:solidFill>
                <a:highlight>
                  <a:srgbClr val="F2F2F2"/>
                </a:highlight>
                <a:latin typeface="Consolas" pitchFamily="34" charset="0"/>
                <a:ea typeface="Consolas" pitchFamily="34" charset="-122"/>
                <a:cs typeface="Consolas" pitchFamily="34" charset="-120"/>
              </a:rPr>
              <a:t>echo</a:t>
            </a:r>
            <a:r>
              <a:rPr lang="en-US" sz="1800" b="1" dirty="0">
                <a:solidFill>
                  <a:srgbClr val="000000"/>
                </a:solidFill>
                <a:latin typeface="Carlito Bold" pitchFamily="34" charset="0"/>
                <a:ea typeface="Carlito Bold" pitchFamily="34" charset="-122"/>
                <a:cs typeface="Carlito Bold" pitchFamily="34" charset="-120"/>
              </a:rPr>
              <a:t> and blank lines.</a:t>
            </a:r>
            <a:endParaRPr lang="en-US" sz="1800" dirty="0"/>
          </a:p>
        </p:txBody>
      </p:sp>
      <p:sp>
        <p:nvSpPr>
          <p:cNvPr id="11" name="Shape 8"/>
          <p:cNvSpPr/>
          <p:nvPr/>
        </p:nvSpPr>
        <p:spPr>
          <a:xfrm>
            <a:off x="6324442" y="3003673"/>
            <a:ext cx="5257668" cy="3695700"/>
          </a:xfrm>
          <a:prstGeom prst="roundRect">
            <a:avLst>
              <a:gd name="adj" fmla="val 3167"/>
            </a:avLst>
          </a:prstGeom>
          <a:solidFill>
            <a:srgbClr val="F8EEEE"/>
          </a:solidFill>
          <a:ln/>
        </p:spPr>
        <p:txBody>
          <a:bodyPr/>
          <a:lstStyle/>
          <a:p>
            <a:endParaRPr lang="en-IN"/>
          </a:p>
        </p:txBody>
      </p:sp>
      <p:sp>
        <p:nvSpPr>
          <p:cNvPr id="12" name="Text 9"/>
          <p:cNvSpPr/>
          <p:nvPr/>
        </p:nvSpPr>
        <p:spPr>
          <a:xfrm>
            <a:off x="6527637" y="3314700"/>
            <a:ext cx="4851279" cy="457200"/>
          </a:xfrm>
          <a:prstGeom prst="rect">
            <a:avLst/>
          </a:prstGeom>
          <a:noFill/>
          <a:ln/>
        </p:spPr>
        <p:txBody>
          <a:bodyPr wrap="none" lIns="0" tIns="0" rIns="0" bIns="0" rtlCol="0" anchor="t"/>
          <a:lstStyle/>
          <a:p>
            <a:pPr marL="0" indent="0" algn="ctr">
              <a:lnSpc>
                <a:spcPct val="100000"/>
              </a:lnSpc>
              <a:buNone/>
            </a:pPr>
            <a:r>
              <a:rPr lang="en-US" sz="3000" b="1" dirty="0">
                <a:solidFill>
                  <a:srgbClr val="000000"/>
                </a:solidFill>
                <a:latin typeface="Caladea Bold" pitchFamily="34" charset="0"/>
                <a:ea typeface="Caladea Bold" pitchFamily="34" charset="-122"/>
                <a:cs typeface="Caladea Bold" pitchFamily="34" charset="-120"/>
              </a:rPr>
              <a:t>Scope of the project </a:t>
            </a:r>
            <a:endParaRPr lang="en-US" sz="3000" dirty="0"/>
          </a:p>
        </p:txBody>
      </p:sp>
      <p:sp>
        <p:nvSpPr>
          <p:cNvPr id="13" name="Text 10"/>
          <p:cNvSpPr/>
          <p:nvPr/>
        </p:nvSpPr>
        <p:spPr>
          <a:xfrm>
            <a:off x="6527637" y="4111625"/>
            <a:ext cx="4851279" cy="1819275"/>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Limited to running </a:t>
            </a:r>
            <a:r>
              <a:rPr lang="en-US" sz="1800" b="1" dirty="0">
                <a:solidFill>
                  <a:srgbClr val="000000"/>
                </a:solidFill>
                <a:highlight>
                  <a:srgbClr val="F2F2F2"/>
                </a:highlight>
                <a:latin typeface="Consolas" pitchFamily="34" charset="0"/>
                <a:ea typeface="Consolas" pitchFamily="34" charset="-122"/>
                <a:cs typeface="Consolas" pitchFamily="34" charset="-120"/>
              </a:rPr>
              <a:t>organize.sh</a:t>
            </a:r>
            <a:r>
              <a:rPr lang="en-US" sz="1800" b="1" dirty="0">
                <a:solidFill>
                  <a:srgbClr val="000000"/>
                </a:solidFill>
                <a:latin typeface="Carlito Bold" pitchFamily="34" charset="0"/>
                <a:ea typeface="Carlito Bold" pitchFamily="34" charset="-122"/>
                <a:cs typeface="Carlito Bold" pitchFamily="34" charset="-120"/>
              </a:rPr>
              <a:t> via the terminal and nano editor.</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Focuses on foundational commands (</a:t>
            </a:r>
            <a:r>
              <a:rPr lang="en-US" sz="1800" b="1" dirty="0">
                <a:solidFill>
                  <a:srgbClr val="000000"/>
                </a:solidFill>
                <a:highlight>
                  <a:srgbClr val="F2F2F2"/>
                </a:highlight>
                <a:latin typeface="Consolas" pitchFamily="34" charset="0"/>
                <a:ea typeface="Consolas" pitchFamily="34" charset="-122"/>
                <a:cs typeface="Consolas" pitchFamily="34" charset="-120"/>
              </a:rPr>
              <a:t>touch</a:t>
            </a:r>
            <a:r>
              <a:rPr lang="en-US" sz="1800" b="1" dirty="0">
                <a:solidFill>
                  <a:srgbClr val="000000"/>
                </a:solidFill>
                <a:latin typeface="Carlito Bold" pitchFamily="34" charset="0"/>
                <a:ea typeface="Carlito Bold" pitchFamily="34" charset="-122"/>
                <a:cs typeface="Carlito Bold" pitchFamily="34" charset="-120"/>
              </a:rPr>
              <a:t>, </a:t>
            </a:r>
            <a:r>
              <a:rPr lang="en-US" sz="1800" b="1" dirty="0">
                <a:solidFill>
                  <a:srgbClr val="000000"/>
                </a:solidFill>
                <a:highlight>
                  <a:srgbClr val="F2F2F2"/>
                </a:highlight>
                <a:latin typeface="Consolas" pitchFamily="34" charset="0"/>
                <a:ea typeface="Consolas" pitchFamily="34" charset="-122"/>
                <a:cs typeface="Consolas" pitchFamily="34" charset="-120"/>
              </a:rPr>
              <a:t>echo</a:t>
            </a:r>
            <a:r>
              <a:rPr lang="en-US" sz="1800" b="1" dirty="0">
                <a:solidFill>
                  <a:srgbClr val="000000"/>
                </a:solidFill>
                <a:latin typeface="Carlito Bold" pitchFamily="34" charset="0"/>
                <a:ea typeface="Carlito Bold" pitchFamily="34" charset="-122"/>
                <a:cs typeface="Carlito Bold" pitchFamily="34" charset="-120"/>
              </a:rPr>
              <a:t>) rather than sorting or moving existing files.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1723666-CC5F-7F00-204C-DB0445920AC6}"/>
              </a:ext>
            </a:extLst>
          </p:cNvPr>
          <p:cNvPicPr>
            <a:picLocks noChangeAspect="1"/>
          </p:cNvPicPr>
          <p:nvPr/>
        </p:nvPicPr>
        <p:blipFill>
          <a:blip r:embed="rId3"/>
          <a:stretch>
            <a:fillRect/>
          </a:stretch>
        </p:blipFill>
        <p:spPr>
          <a:xfrm>
            <a:off x="11076598" y="6463810"/>
            <a:ext cx="1053199" cy="366330"/>
          </a:xfrm>
          <a:prstGeom prst="rect">
            <a:avLst/>
          </a:prstGeom>
        </p:spPr>
      </p:pic>
      <p:pic>
        <p:nvPicPr>
          <p:cNvPr id="2" name="Image 0" descr="preencoded.png"/>
          <p:cNvPicPr>
            <a:picLocks noChangeAspect="1"/>
          </p:cNvPicPr>
          <p:nvPr/>
        </p:nvPicPr>
        <p:blipFill>
          <a:blip r:embed="rId4"/>
          <a:stretch>
            <a:fillRect/>
          </a:stretch>
        </p:blipFill>
        <p:spPr>
          <a:xfrm>
            <a:off x="609585" y="487660"/>
            <a:ext cx="2925987" cy="1409998"/>
          </a:xfrm>
          <a:prstGeom prst="rect">
            <a:avLst/>
          </a:prstGeom>
        </p:spPr>
      </p:pic>
      <p:sp>
        <p:nvSpPr>
          <p:cNvPr id="3" name="Shape 0"/>
          <p:cNvSpPr/>
          <p:nvPr/>
        </p:nvSpPr>
        <p:spPr>
          <a:xfrm>
            <a:off x="8534187" y="548580"/>
            <a:ext cx="3047924" cy="487660"/>
          </a:xfrm>
          <a:prstGeom prst="roundRect">
            <a:avLst>
              <a:gd name="adj" fmla="val 49999"/>
            </a:avLst>
          </a:prstGeom>
          <a:solidFill>
            <a:srgbClr val="F8EEEE"/>
          </a:solidFill>
          <a:ln/>
        </p:spPr>
        <p:txBody>
          <a:bodyPr/>
          <a:lstStyle/>
          <a:p>
            <a:endParaRPr lang="en-IN"/>
          </a:p>
        </p:txBody>
      </p:sp>
      <p:sp>
        <p:nvSpPr>
          <p:cNvPr id="4" name="Text 1"/>
          <p:cNvSpPr/>
          <p:nvPr/>
        </p:nvSpPr>
        <p:spPr>
          <a:xfrm>
            <a:off x="8229394" y="636191"/>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Dept. of CSA – BCA</a:t>
            </a:r>
            <a:endParaRPr lang="en-US" sz="1850" dirty="0"/>
          </a:p>
        </p:txBody>
      </p:sp>
      <p:sp>
        <p:nvSpPr>
          <p:cNvPr id="5" name="Shape 2"/>
          <p:cNvSpPr/>
          <p:nvPr/>
        </p:nvSpPr>
        <p:spPr>
          <a:xfrm>
            <a:off x="8534187" y="1182588"/>
            <a:ext cx="3047924" cy="487660"/>
          </a:xfrm>
          <a:prstGeom prst="roundRect">
            <a:avLst>
              <a:gd name="adj" fmla="val 49999"/>
            </a:avLst>
          </a:prstGeom>
          <a:solidFill>
            <a:srgbClr val="F8EEEE"/>
          </a:solidFill>
          <a:ln/>
        </p:spPr>
        <p:txBody>
          <a:bodyPr/>
          <a:lstStyle/>
          <a:p>
            <a:endParaRPr lang="en-IN"/>
          </a:p>
        </p:txBody>
      </p:sp>
      <p:sp>
        <p:nvSpPr>
          <p:cNvPr id="6" name="Text 3"/>
          <p:cNvSpPr/>
          <p:nvPr/>
        </p:nvSpPr>
        <p:spPr>
          <a:xfrm>
            <a:off x="8229394" y="1270198"/>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I Year – I Semester</a:t>
            </a:r>
            <a:endParaRPr lang="en-US" sz="1850" dirty="0"/>
          </a:p>
        </p:txBody>
      </p:sp>
      <p:sp>
        <p:nvSpPr>
          <p:cNvPr id="7" name="Text 4"/>
          <p:cNvSpPr/>
          <p:nvPr/>
        </p:nvSpPr>
        <p:spPr>
          <a:xfrm>
            <a:off x="609585" y="2082800"/>
            <a:ext cx="10972526" cy="579041"/>
          </a:xfrm>
          <a:prstGeom prst="rect">
            <a:avLst/>
          </a:prstGeom>
          <a:noFill/>
          <a:ln/>
        </p:spPr>
        <p:txBody>
          <a:bodyPr wrap="none" lIns="0" tIns="0" rIns="0" bIns="0" rtlCol="0" anchor="t"/>
          <a:lstStyle/>
          <a:p>
            <a:pPr marL="0" indent="0" algn="l">
              <a:lnSpc>
                <a:spcPct val="100000"/>
              </a:lnSpc>
              <a:buNone/>
            </a:pPr>
            <a:r>
              <a:rPr lang="en-US" sz="3800" b="1" kern="100" spc="56" dirty="0">
                <a:solidFill>
                  <a:srgbClr val="1F1A1A"/>
                </a:solidFill>
                <a:latin typeface="Caladea Bold" pitchFamily="34" charset="0"/>
                <a:ea typeface="Caladea Bold" pitchFamily="34" charset="-122"/>
                <a:cs typeface="Caladea Bold" pitchFamily="34" charset="-120"/>
              </a:rPr>
              <a:t>Existing vs. Proposed System</a:t>
            </a:r>
            <a:endParaRPr lang="en-US" sz="3800" dirty="0"/>
          </a:p>
        </p:txBody>
      </p:sp>
      <p:sp>
        <p:nvSpPr>
          <p:cNvPr id="8" name="Shape 5"/>
          <p:cNvSpPr/>
          <p:nvPr/>
        </p:nvSpPr>
        <p:spPr>
          <a:xfrm>
            <a:off x="609585" y="2938360"/>
            <a:ext cx="5257668" cy="3695700"/>
          </a:xfrm>
          <a:prstGeom prst="roundRect">
            <a:avLst>
              <a:gd name="adj" fmla="val 3167"/>
            </a:avLst>
          </a:prstGeom>
          <a:solidFill>
            <a:srgbClr val="F8EEEE"/>
          </a:solidFill>
          <a:ln/>
        </p:spPr>
        <p:txBody>
          <a:bodyPr/>
          <a:lstStyle/>
          <a:p>
            <a:endParaRPr lang="en-IN"/>
          </a:p>
        </p:txBody>
      </p:sp>
      <p:sp>
        <p:nvSpPr>
          <p:cNvPr id="9" name="Text 6"/>
          <p:cNvSpPr/>
          <p:nvPr/>
        </p:nvSpPr>
        <p:spPr>
          <a:xfrm>
            <a:off x="812780" y="3314700"/>
            <a:ext cx="4851279" cy="457200"/>
          </a:xfrm>
          <a:prstGeom prst="rect">
            <a:avLst/>
          </a:prstGeom>
          <a:noFill/>
          <a:ln/>
        </p:spPr>
        <p:txBody>
          <a:bodyPr wrap="none" lIns="0" tIns="0" rIns="0" bIns="0" rtlCol="0" anchor="t"/>
          <a:lstStyle/>
          <a:p>
            <a:pPr marL="0" indent="0" algn="ctr">
              <a:lnSpc>
                <a:spcPct val="100000"/>
              </a:lnSpc>
              <a:buNone/>
            </a:pPr>
            <a:r>
              <a:rPr lang="en-US" sz="3000" b="1" dirty="0">
                <a:solidFill>
                  <a:srgbClr val="000000"/>
                </a:solidFill>
                <a:latin typeface="Caladea Bold" pitchFamily="34" charset="0"/>
                <a:ea typeface="Caladea Bold" pitchFamily="34" charset="-122"/>
                <a:cs typeface="Caladea Bold" pitchFamily="34" charset="-120"/>
              </a:rPr>
              <a:t>Existing System</a:t>
            </a:r>
            <a:endParaRPr lang="en-US" sz="3000" dirty="0"/>
          </a:p>
        </p:txBody>
      </p:sp>
      <p:sp>
        <p:nvSpPr>
          <p:cNvPr id="10" name="Text 7"/>
          <p:cNvSpPr/>
          <p:nvPr/>
        </p:nvSpPr>
        <p:spPr>
          <a:xfrm>
            <a:off x="812780" y="4111625"/>
            <a:ext cx="4851279" cy="188595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Files managed manually through the terminal one by one.</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Time-consuming and prone to typing mistakes.</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Lacks a consistent script to present file outputs in an automated order.</a:t>
            </a:r>
            <a:endParaRPr lang="en-US" sz="1800" dirty="0"/>
          </a:p>
        </p:txBody>
      </p:sp>
      <p:sp>
        <p:nvSpPr>
          <p:cNvPr id="11" name="Shape 8"/>
          <p:cNvSpPr/>
          <p:nvPr/>
        </p:nvSpPr>
        <p:spPr>
          <a:xfrm>
            <a:off x="6324442" y="2910373"/>
            <a:ext cx="5257668" cy="3695700"/>
          </a:xfrm>
          <a:prstGeom prst="roundRect">
            <a:avLst>
              <a:gd name="adj" fmla="val 3167"/>
            </a:avLst>
          </a:prstGeom>
          <a:solidFill>
            <a:srgbClr val="F8EEEE"/>
          </a:solidFill>
          <a:ln/>
        </p:spPr>
        <p:txBody>
          <a:bodyPr/>
          <a:lstStyle/>
          <a:p>
            <a:endParaRPr lang="en-IN"/>
          </a:p>
        </p:txBody>
      </p:sp>
      <p:sp>
        <p:nvSpPr>
          <p:cNvPr id="12" name="Text 9"/>
          <p:cNvSpPr/>
          <p:nvPr/>
        </p:nvSpPr>
        <p:spPr>
          <a:xfrm>
            <a:off x="6527637" y="3314700"/>
            <a:ext cx="4851279" cy="457200"/>
          </a:xfrm>
          <a:prstGeom prst="rect">
            <a:avLst/>
          </a:prstGeom>
          <a:noFill/>
          <a:ln/>
        </p:spPr>
        <p:txBody>
          <a:bodyPr wrap="none" lIns="0" tIns="0" rIns="0" bIns="0" rtlCol="0" anchor="t"/>
          <a:lstStyle/>
          <a:p>
            <a:pPr marL="0" indent="0" algn="ctr">
              <a:lnSpc>
                <a:spcPct val="100000"/>
              </a:lnSpc>
              <a:buNone/>
            </a:pPr>
            <a:r>
              <a:rPr lang="en-US" sz="3000" b="1" dirty="0">
                <a:solidFill>
                  <a:srgbClr val="000000"/>
                </a:solidFill>
                <a:latin typeface="Caladea Bold" pitchFamily="34" charset="0"/>
                <a:ea typeface="Caladea Bold" pitchFamily="34" charset="-122"/>
                <a:cs typeface="Caladea Bold" pitchFamily="34" charset="-120"/>
              </a:rPr>
              <a:t>Proposed System</a:t>
            </a:r>
            <a:endParaRPr lang="en-US" sz="3000" dirty="0"/>
          </a:p>
        </p:txBody>
      </p:sp>
      <p:sp>
        <p:nvSpPr>
          <p:cNvPr id="13" name="Text 10"/>
          <p:cNvSpPr/>
          <p:nvPr/>
        </p:nvSpPr>
        <p:spPr>
          <a:xfrm>
            <a:off x="6527637" y="4111625"/>
            <a:ext cx="4851279" cy="2168525"/>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Uses an automated Bash script (</a:t>
            </a:r>
            <a:r>
              <a:rPr lang="en-US" sz="1800" b="1" dirty="0">
                <a:solidFill>
                  <a:srgbClr val="000000"/>
                </a:solidFill>
                <a:highlight>
                  <a:srgbClr val="F2F2F2"/>
                </a:highlight>
                <a:latin typeface="Consolas" pitchFamily="34" charset="0"/>
                <a:ea typeface="Consolas" pitchFamily="34" charset="-122"/>
                <a:cs typeface="Consolas" pitchFamily="34" charset="-120"/>
              </a:rPr>
              <a:t>organize.sh</a:t>
            </a:r>
            <a:r>
              <a:rPr lang="en-US" sz="1800" b="1" dirty="0">
                <a:solidFill>
                  <a:srgbClr val="000000"/>
                </a:solidFill>
                <a:latin typeface="Carlito Bold" pitchFamily="34" charset="0"/>
                <a:ea typeface="Carlito Bold" pitchFamily="34" charset="-122"/>
                <a:cs typeface="Carlito Bold" pitchFamily="34" charset="-120"/>
              </a:rPr>
              <a:t>) written in </a:t>
            </a:r>
            <a:r>
              <a:rPr lang="en-US" sz="1800" b="1" dirty="0">
                <a:solidFill>
                  <a:srgbClr val="000000"/>
                </a:solidFill>
                <a:highlight>
                  <a:srgbClr val="F2F2F2"/>
                </a:highlight>
                <a:latin typeface="Consolas" pitchFamily="34" charset="0"/>
                <a:ea typeface="Consolas" pitchFamily="34" charset="-122"/>
                <a:cs typeface="Consolas" pitchFamily="34" charset="-120"/>
              </a:rPr>
              <a:t>nano</a:t>
            </a:r>
            <a:r>
              <a:rPr lang="en-US" sz="1800" b="1" dirty="0">
                <a:solidFill>
                  <a:srgbClr val="000000"/>
                </a:solidFill>
                <a:latin typeface="Carlito Bold" pitchFamily="34" charset="0"/>
                <a:ea typeface="Carlito Bold" pitchFamily="34" charset="-122"/>
                <a:cs typeface="Carlito Bold" pitchFamily="34" charset="-120"/>
              </a:rPr>
              <a:t>.</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Instantly displays headings, creates files (</a:t>
            </a:r>
            <a:r>
              <a:rPr lang="en-US" sz="1800" b="1" dirty="0">
                <a:solidFill>
                  <a:srgbClr val="000000"/>
                </a:solidFill>
                <a:highlight>
                  <a:srgbClr val="F2F2F2"/>
                </a:highlight>
                <a:latin typeface="Consolas" pitchFamily="34" charset="0"/>
                <a:ea typeface="Consolas" pitchFamily="34" charset="-122"/>
                <a:cs typeface="Consolas" pitchFamily="34" charset="-120"/>
              </a:rPr>
              <a:t>Documents/notes.txt</a:t>
            </a:r>
            <a:r>
              <a:rPr lang="en-US" sz="1800" b="1" dirty="0">
                <a:solidFill>
                  <a:srgbClr val="000000"/>
                </a:solidFill>
                <a:latin typeface="Carlito Bold" pitchFamily="34" charset="0"/>
                <a:ea typeface="Carlito Bold" pitchFamily="34" charset="-122"/>
                <a:cs typeface="Carlito Bold" pitchFamily="34" charset="-120"/>
              </a:rPr>
              <a:t>, </a:t>
            </a:r>
            <a:r>
              <a:rPr lang="en-US" sz="1800" b="1" dirty="0">
                <a:solidFill>
                  <a:srgbClr val="000000"/>
                </a:solidFill>
                <a:highlight>
                  <a:srgbClr val="F2F2F2"/>
                </a:highlight>
                <a:latin typeface="Consolas" pitchFamily="34" charset="0"/>
                <a:ea typeface="Consolas" pitchFamily="34" charset="-122"/>
                <a:cs typeface="Consolas" pitchFamily="34" charset="-120"/>
              </a:rPr>
              <a:t>Images/photo.jpg</a:t>
            </a:r>
            <a:r>
              <a:rPr lang="en-US" sz="1800" b="1" dirty="0">
                <a:solidFill>
                  <a:srgbClr val="000000"/>
                </a:solidFill>
                <a:latin typeface="Carlito Bold" pitchFamily="34" charset="0"/>
                <a:ea typeface="Carlito Bold" pitchFamily="34" charset="-122"/>
                <a:cs typeface="Carlito Bold" pitchFamily="34" charset="-120"/>
              </a:rPr>
              <a:t>), and organizes output sections cleanly.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F1962AB-AFAF-FEA4-B1A5-AC2E453F01C3}"/>
              </a:ext>
            </a:extLst>
          </p:cNvPr>
          <p:cNvPicPr>
            <a:picLocks noChangeAspect="1"/>
          </p:cNvPicPr>
          <p:nvPr/>
        </p:nvPicPr>
        <p:blipFill>
          <a:blip r:embed="rId3"/>
          <a:stretch>
            <a:fillRect/>
          </a:stretch>
        </p:blipFill>
        <p:spPr>
          <a:xfrm>
            <a:off x="11076598" y="6463810"/>
            <a:ext cx="1053199" cy="366330"/>
          </a:xfrm>
          <a:prstGeom prst="rect">
            <a:avLst/>
          </a:prstGeom>
        </p:spPr>
      </p:pic>
      <p:pic>
        <p:nvPicPr>
          <p:cNvPr id="2" name="Image 0" descr="preencoded.png"/>
          <p:cNvPicPr>
            <a:picLocks noChangeAspect="1"/>
          </p:cNvPicPr>
          <p:nvPr/>
        </p:nvPicPr>
        <p:blipFill>
          <a:blip r:embed="rId4"/>
          <a:stretch>
            <a:fillRect/>
          </a:stretch>
        </p:blipFill>
        <p:spPr>
          <a:xfrm>
            <a:off x="609585" y="487660"/>
            <a:ext cx="2925987" cy="1409998"/>
          </a:xfrm>
          <a:prstGeom prst="rect">
            <a:avLst/>
          </a:prstGeom>
        </p:spPr>
      </p:pic>
      <p:sp>
        <p:nvSpPr>
          <p:cNvPr id="3" name="Shape 0"/>
          <p:cNvSpPr/>
          <p:nvPr/>
        </p:nvSpPr>
        <p:spPr>
          <a:xfrm>
            <a:off x="8534187" y="548580"/>
            <a:ext cx="3047924" cy="487660"/>
          </a:xfrm>
          <a:prstGeom prst="roundRect">
            <a:avLst>
              <a:gd name="adj" fmla="val 49999"/>
            </a:avLst>
          </a:prstGeom>
          <a:solidFill>
            <a:srgbClr val="F8EEEE"/>
          </a:solidFill>
          <a:ln/>
        </p:spPr>
        <p:txBody>
          <a:bodyPr/>
          <a:lstStyle/>
          <a:p>
            <a:endParaRPr lang="en-IN"/>
          </a:p>
        </p:txBody>
      </p:sp>
      <p:sp>
        <p:nvSpPr>
          <p:cNvPr id="4" name="Text 1"/>
          <p:cNvSpPr/>
          <p:nvPr/>
        </p:nvSpPr>
        <p:spPr>
          <a:xfrm>
            <a:off x="8229394" y="636191"/>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Dept. of CSA – BCA</a:t>
            </a:r>
            <a:endParaRPr lang="en-US" sz="1850" dirty="0"/>
          </a:p>
        </p:txBody>
      </p:sp>
      <p:sp>
        <p:nvSpPr>
          <p:cNvPr id="5" name="Shape 2"/>
          <p:cNvSpPr/>
          <p:nvPr/>
        </p:nvSpPr>
        <p:spPr>
          <a:xfrm>
            <a:off x="8534187" y="1182588"/>
            <a:ext cx="3047924" cy="487660"/>
          </a:xfrm>
          <a:prstGeom prst="roundRect">
            <a:avLst>
              <a:gd name="adj" fmla="val 49999"/>
            </a:avLst>
          </a:prstGeom>
          <a:solidFill>
            <a:srgbClr val="F8EEEE"/>
          </a:solidFill>
          <a:ln/>
        </p:spPr>
        <p:txBody>
          <a:bodyPr/>
          <a:lstStyle/>
          <a:p>
            <a:endParaRPr lang="en-IN"/>
          </a:p>
        </p:txBody>
      </p:sp>
      <p:sp>
        <p:nvSpPr>
          <p:cNvPr id="6" name="Text 3"/>
          <p:cNvSpPr/>
          <p:nvPr/>
        </p:nvSpPr>
        <p:spPr>
          <a:xfrm>
            <a:off x="8229394" y="1270198"/>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I Year – I Semester</a:t>
            </a:r>
            <a:endParaRPr lang="en-US" sz="1850" dirty="0"/>
          </a:p>
        </p:txBody>
      </p:sp>
      <p:sp>
        <p:nvSpPr>
          <p:cNvPr id="7" name="Text 4"/>
          <p:cNvSpPr/>
          <p:nvPr/>
        </p:nvSpPr>
        <p:spPr>
          <a:xfrm>
            <a:off x="609585" y="2082800"/>
            <a:ext cx="10972526" cy="640060"/>
          </a:xfrm>
          <a:prstGeom prst="rect">
            <a:avLst/>
          </a:prstGeom>
          <a:noFill/>
          <a:ln/>
        </p:spPr>
        <p:txBody>
          <a:bodyPr wrap="none" lIns="0" tIns="0" rIns="0" bIns="0" rtlCol="0" anchor="t"/>
          <a:lstStyle/>
          <a:p>
            <a:pPr marL="0" indent="0" algn="l">
              <a:lnSpc>
                <a:spcPct val="100000"/>
              </a:lnSpc>
              <a:buNone/>
            </a:pPr>
            <a:r>
              <a:rPr lang="en-US" sz="4200" b="1" kern="100" spc="56" dirty="0">
                <a:solidFill>
                  <a:srgbClr val="1F1A1A"/>
                </a:solidFill>
                <a:latin typeface="Caladea Bold" pitchFamily="34" charset="0"/>
                <a:ea typeface="Caladea Bold" pitchFamily="34" charset="-122"/>
                <a:cs typeface="Caladea Bold" pitchFamily="34" charset="-120"/>
              </a:rPr>
              <a:t>System Requirements</a:t>
            </a:r>
            <a:endParaRPr lang="en-US" sz="4200" dirty="0"/>
          </a:p>
        </p:txBody>
      </p:sp>
      <p:sp>
        <p:nvSpPr>
          <p:cNvPr id="8" name="Shape 5"/>
          <p:cNvSpPr/>
          <p:nvPr/>
        </p:nvSpPr>
        <p:spPr>
          <a:xfrm>
            <a:off x="609585" y="2984500"/>
            <a:ext cx="5257668" cy="2847975"/>
          </a:xfrm>
          <a:prstGeom prst="roundRect">
            <a:avLst>
              <a:gd name="adj" fmla="val 3022"/>
            </a:avLst>
          </a:prstGeom>
          <a:solidFill>
            <a:srgbClr val="F8EEEE"/>
          </a:solidFill>
          <a:ln/>
        </p:spPr>
        <p:txBody>
          <a:bodyPr/>
          <a:lstStyle/>
          <a:p>
            <a:endParaRPr lang="en-IN"/>
          </a:p>
        </p:txBody>
      </p:sp>
      <p:sp>
        <p:nvSpPr>
          <p:cNvPr id="9" name="Text 6"/>
          <p:cNvSpPr/>
          <p:nvPr/>
        </p:nvSpPr>
        <p:spPr>
          <a:xfrm>
            <a:off x="812780" y="3136900"/>
            <a:ext cx="4851279" cy="457200"/>
          </a:xfrm>
          <a:prstGeom prst="rect">
            <a:avLst/>
          </a:prstGeom>
          <a:noFill/>
          <a:ln/>
        </p:spPr>
        <p:txBody>
          <a:bodyPr wrap="none" lIns="0" tIns="0" rIns="0" bIns="0" rtlCol="0" anchor="t"/>
          <a:lstStyle/>
          <a:p>
            <a:pPr marL="0" indent="0" algn="ctr">
              <a:lnSpc>
                <a:spcPct val="100000"/>
              </a:lnSpc>
              <a:buNone/>
            </a:pPr>
            <a:r>
              <a:rPr lang="en-US" sz="3000" b="1" dirty="0">
                <a:solidFill>
                  <a:srgbClr val="000000"/>
                </a:solidFill>
                <a:latin typeface="Caladea Bold" pitchFamily="34" charset="0"/>
                <a:ea typeface="Caladea Bold" pitchFamily="34" charset="-122"/>
                <a:cs typeface="Caladea Bold" pitchFamily="34" charset="-120"/>
              </a:rPr>
              <a:t>Hardware Requirements</a:t>
            </a:r>
            <a:endParaRPr lang="en-US" sz="3000" dirty="0"/>
          </a:p>
        </p:txBody>
      </p:sp>
      <p:sp>
        <p:nvSpPr>
          <p:cNvPr id="10" name="Text 7"/>
          <p:cNvSpPr/>
          <p:nvPr/>
        </p:nvSpPr>
        <p:spPr>
          <a:xfrm>
            <a:off x="812780" y="3933825"/>
            <a:ext cx="4851279" cy="120015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Computer or laptop</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Minimum 4 GB RAM recommended</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Keyboard and display</a:t>
            </a:r>
            <a:endParaRPr lang="en-US" sz="1800" dirty="0"/>
          </a:p>
        </p:txBody>
      </p:sp>
      <p:sp>
        <p:nvSpPr>
          <p:cNvPr id="11" name="Shape 8"/>
          <p:cNvSpPr/>
          <p:nvPr/>
        </p:nvSpPr>
        <p:spPr>
          <a:xfrm>
            <a:off x="6324442" y="2984500"/>
            <a:ext cx="5257668" cy="2845302"/>
          </a:xfrm>
          <a:prstGeom prst="roundRect">
            <a:avLst>
              <a:gd name="adj" fmla="val 3022"/>
            </a:avLst>
          </a:prstGeom>
          <a:solidFill>
            <a:srgbClr val="F8EEEE"/>
          </a:solidFill>
          <a:ln/>
        </p:spPr>
        <p:txBody>
          <a:bodyPr/>
          <a:lstStyle/>
          <a:p>
            <a:endParaRPr lang="en-IN"/>
          </a:p>
        </p:txBody>
      </p:sp>
      <p:sp>
        <p:nvSpPr>
          <p:cNvPr id="12" name="Text 9"/>
          <p:cNvSpPr/>
          <p:nvPr/>
        </p:nvSpPr>
        <p:spPr>
          <a:xfrm>
            <a:off x="6527637" y="3136900"/>
            <a:ext cx="4851279" cy="457200"/>
          </a:xfrm>
          <a:prstGeom prst="rect">
            <a:avLst/>
          </a:prstGeom>
          <a:noFill/>
          <a:ln/>
        </p:spPr>
        <p:txBody>
          <a:bodyPr wrap="none" lIns="0" tIns="0" rIns="0" bIns="0" rtlCol="0" anchor="t"/>
          <a:lstStyle/>
          <a:p>
            <a:pPr marL="0" indent="0" algn="ctr">
              <a:lnSpc>
                <a:spcPct val="100000"/>
              </a:lnSpc>
              <a:buNone/>
            </a:pPr>
            <a:r>
              <a:rPr lang="en-US" sz="3000" b="1" dirty="0">
                <a:solidFill>
                  <a:srgbClr val="000000"/>
                </a:solidFill>
                <a:latin typeface="Caladea Bold" pitchFamily="34" charset="0"/>
                <a:ea typeface="Caladea Bold" pitchFamily="34" charset="-122"/>
                <a:cs typeface="Caladea Bold" pitchFamily="34" charset="-120"/>
              </a:rPr>
              <a:t>Software Requirements</a:t>
            </a:r>
            <a:endParaRPr lang="en-US" sz="3000" dirty="0"/>
          </a:p>
        </p:txBody>
      </p:sp>
      <p:sp>
        <p:nvSpPr>
          <p:cNvPr id="13" name="Text 10"/>
          <p:cNvSpPr/>
          <p:nvPr/>
        </p:nvSpPr>
        <p:spPr>
          <a:xfrm>
            <a:off x="6527637" y="3933825"/>
            <a:ext cx="4851279" cy="1898650"/>
          </a:xfrm>
          <a:prstGeom prst="rect">
            <a:avLst/>
          </a:prstGeom>
          <a:noFill/>
          <a:ln/>
        </p:spPr>
        <p:txBody>
          <a:bodyPr wrap="square" lIns="0" tIns="0" rIns="0" bIns="0" rtlCol="0" anchor="t">
            <a:normAutofit/>
          </a:bodyPr>
          <a:lstStyle/>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Ubuntu Linux or Windows Subsystem for Linux (WSL)</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Bash shell</a:t>
            </a:r>
            <a:endParaRPr lang="en-US" sz="1800" dirty="0"/>
          </a:p>
          <a:p>
            <a:pPr marL="365760" indent="-365760" algn="l">
              <a:lnSpc>
                <a:spcPct val="125000"/>
              </a:lnSpc>
              <a:buSzPct val="100000"/>
              <a:buChar char="•"/>
            </a:pPr>
            <a:r>
              <a:rPr lang="en-US" sz="1800" b="1" dirty="0">
                <a:solidFill>
                  <a:srgbClr val="000000"/>
                </a:solidFill>
                <a:latin typeface="Carlito Bold" pitchFamily="34" charset="0"/>
                <a:ea typeface="Carlito Bold" pitchFamily="34" charset="-122"/>
                <a:cs typeface="Carlito Bold" pitchFamily="34" charset="-120"/>
              </a:rPr>
              <a:t>Terminal application and text editor (</a:t>
            </a:r>
            <a:r>
              <a:rPr lang="en-US" sz="1800" b="1" dirty="0">
                <a:solidFill>
                  <a:srgbClr val="000000"/>
                </a:solidFill>
                <a:highlight>
                  <a:srgbClr val="F2F2F2"/>
                </a:highlight>
                <a:latin typeface="Consolas" pitchFamily="34" charset="0"/>
                <a:ea typeface="Consolas" pitchFamily="34" charset="-122"/>
                <a:cs typeface="Consolas" pitchFamily="34" charset="-120"/>
              </a:rPr>
              <a:t>nano</a:t>
            </a:r>
            <a:r>
              <a:rPr lang="en-US" sz="1800" b="1" dirty="0">
                <a:solidFill>
                  <a:srgbClr val="000000"/>
                </a:solidFill>
                <a:latin typeface="Carlito Bold" pitchFamily="34" charset="0"/>
                <a:ea typeface="Carlito Bold" pitchFamily="34" charset="-122"/>
                <a:cs typeface="Carlito Bold" pitchFamily="34" charset="-120"/>
              </a:rPr>
              <a:t> or </a:t>
            </a:r>
            <a:r>
              <a:rPr lang="en-US" sz="1800" b="1" dirty="0">
                <a:solidFill>
                  <a:srgbClr val="000000"/>
                </a:solidFill>
                <a:highlight>
                  <a:srgbClr val="F2F2F2"/>
                </a:highlight>
                <a:latin typeface="Consolas" pitchFamily="34" charset="0"/>
                <a:ea typeface="Consolas" pitchFamily="34" charset="-122"/>
                <a:cs typeface="Consolas" pitchFamily="34" charset="-120"/>
              </a:rPr>
              <a:t>vim</a:t>
            </a:r>
            <a:r>
              <a:rPr lang="en-US" sz="1800" b="1" dirty="0">
                <a:solidFill>
                  <a:srgbClr val="000000"/>
                </a:solidFill>
                <a:latin typeface="Carlito Bold" pitchFamily="34" charset="0"/>
                <a:ea typeface="Carlito Bold" pitchFamily="34" charset="-122"/>
                <a:cs typeface="Carlito Bold" pitchFamily="34" charset="-120"/>
              </a:rPr>
              <a: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5" y="487660"/>
            <a:ext cx="2925987" cy="1409998"/>
          </a:xfrm>
          <a:prstGeom prst="rect">
            <a:avLst/>
          </a:prstGeom>
        </p:spPr>
      </p:pic>
      <p:sp>
        <p:nvSpPr>
          <p:cNvPr id="3" name="Shape 0"/>
          <p:cNvSpPr/>
          <p:nvPr/>
        </p:nvSpPr>
        <p:spPr>
          <a:xfrm>
            <a:off x="8534187" y="548580"/>
            <a:ext cx="3047924" cy="487660"/>
          </a:xfrm>
          <a:prstGeom prst="roundRect">
            <a:avLst>
              <a:gd name="adj" fmla="val 49999"/>
            </a:avLst>
          </a:prstGeom>
          <a:solidFill>
            <a:srgbClr val="F8EEEE"/>
          </a:solidFill>
          <a:ln/>
        </p:spPr>
        <p:txBody>
          <a:bodyPr/>
          <a:lstStyle/>
          <a:p>
            <a:endParaRPr lang="en-IN"/>
          </a:p>
        </p:txBody>
      </p:sp>
      <p:sp>
        <p:nvSpPr>
          <p:cNvPr id="4" name="Text 1"/>
          <p:cNvSpPr/>
          <p:nvPr/>
        </p:nvSpPr>
        <p:spPr>
          <a:xfrm>
            <a:off x="8229394" y="636191"/>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Dept. of CSA – BCA</a:t>
            </a:r>
            <a:endParaRPr lang="en-US" sz="1850" dirty="0"/>
          </a:p>
        </p:txBody>
      </p:sp>
      <p:sp>
        <p:nvSpPr>
          <p:cNvPr id="5" name="Shape 2"/>
          <p:cNvSpPr/>
          <p:nvPr/>
        </p:nvSpPr>
        <p:spPr>
          <a:xfrm>
            <a:off x="8534187" y="1182588"/>
            <a:ext cx="3047924" cy="487660"/>
          </a:xfrm>
          <a:prstGeom prst="roundRect">
            <a:avLst>
              <a:gd name="adj" fmla="val 49999"/>
            </a:avLst>
          </a:prstGeom>
          <a:solidFill>
            <a:srgbClr val="F8EEEE"/>
          </a:solidFill>
          <a:ln/>
        </p:spPr>
        <p:txBody>
          <a:bodyPr/>
          <a:lstStyle/>
          <a:p>
            <a:endParaRPr lang="en-IN"/>
          </a:p>
        </p:txBody>
      </p:sp>
      <p:sp>
        <p:nvSpPr>
          <p:cNvPr id="6" name="Text 3"/>
          <p:cNvSpPr/>
          <p:nvPr/>
        </p:nvSpPr>
        <p:spPr>
          <a:xfrm>
            <a:off x="8229394" y="1270198"/>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I Year – I Semester</a:t>
            </a:r>
            <a:endParaRPr lang="en-US" sz="1850" dirty="0"/>
          </a:p>
        </p:txBody>
      </p:sp>
      <p:sp>
        <p:nvSpPr>
          <p:cNvPr id="7" name="Text 4"/>
          <p:cNvSpPr/>
          <p:nvPr/>
        </p:nvSpPr>
        <p:spPr>
          <a:xfrm>
            <a:off x="609585" y="2082800"/>
            <a:ext cx="10972526" cy="579041"/>
          </a:xfrm>
          <a:prstGeom prst="rect">
            <a:avLst/>
          </a:prstGeom>
          <a:noFill/>
          <a:ln/>
        </p:spPr>
        <p:txBody>
          <a:bodyPr wrap="none" lIns="0" tIns="0" rIns="0" bIns="0" rtlCol="0" anchor="t"/>
          <a:lstStyle/>
          <a:p>
            <a:pPr marL="0" indent="0" algn="l">
              <a:lnSpc>
                <a:spcPct val="100000"/>
              </a:lnSpc>
              <a:buNone/>
            </a:pPr>
            <a:r>
              <a:rPr lang="en-US" sz="3800" b="1" kern="100" spc="56" dirty="0">
                <a:solidFill>
                  <a:srgbClr val="1F1A1A"/>
                </a:solidFill>
                <a:latin typeface="Caladea Bold" pitchFamily="34" charset="0"/>
                <a:ea typeface="Caladea Bold" pitchFamily="34" charset="-122"/>
                <a:cs typeface="Caladea Bold" pitchFamily="34" charset="-120"/>
              </a:rPr>
              <a:t>System Design &amp; Process Flow</a:t>
            </a:r>
            <a:endParaRPr lang="en-US" sz="3800" dirty="0"/>
          </a:p>
        </p:txBody>
      </p:sp>
      <p:sp>
        <p:nvSpPr>
          <p:cNvPr id="8" name="Shape 5"/>
          <p:cNvSpPr/>
          <p:nvPr/>
        </p:nvSpPr>
        <p:spPr>
          <a:xfrm>
            <a:off x="609585" y="2984500"/>
            <a:ext cx="5257668" cy="3416300"/>
          </a:xfrm>
          <a:prstGeom prst="roundRect">
            <a:avLst>
              <a:gd name="adj" fmla="val 3426"/>
            </a:avLst>
          </a:prstGeom>
          <a:solidFill>
            <a:srgbClr val="F8EEEE"/>
          </a:solidFill>
          <a:ln/>
        </p:spPr>
        <p:txBody>
          <a:bodyPr/>
          <a:lstStyle/>
          <a:p>
            <a:endParaRPr lang="en-IN"/>
          </a:p>
        </p:txBody>
      </p:sp>
      <p:sp>
        <p:nvSpPr>
          <p:cNvPr id="9" name="Text 6"/>
          <p:cNvSpPr/>
          <p:nvPr/>
        </p:nvSpPr>
        <p:spPr>
          <a:xfrm>
            <a:off x="812780" y="3136900"/>
            <a:ext cx="4851279" cy="457200"/>
          </a:xfrm>
          <a:prstGeom prst="rect">
            <a:avLst/>
          </a:prstGeom>
          <a:noFill/>
          <a:ln/>
        </p:spPr>
        <p:txBody>
          <a:bodyPr wrap="none" lIns="0" tIns="0" rIns="0" bIns="0" rtlCol="0" anchor="t"/>
          <a:lstStyle/>
          <a:p>
            <a:pPr marL="0" indent="0" algn="ctr">
              <a:lnSpc>
                <a:spcPct val="100000"/>
              </a:lnSpc>
              <a:buNone/>
            </a:pPr>
            <a:r>
              <a:rPr lang="en-US" sz="3000" b="1" dirty="0">
                <a:solidFill>
                  <a:srgbClr val="000000"/>
                </a:solidFill>
                <a:latin typeface="Caladea Bold" pitchFamily="34" charset="0"/>
                <a:ea typeface="Caladea Bold" pitchFamily="34" charset="-122"/>
                <a:cs typeface="Caladea Bold" pitchFamily="34" charset="-120"/>
              </a:rPr>
              <a:t>Design Steps</a:t>
            </a:r>
            <a:endParaRPr lang="en-US" sz="3000" dirty="0"/>
          </a:p>
        </p:txBody>
      </p:sp>
      <p:sp>
        <p:nvSpPr>
          <p:cNvPr id="10" name="Text 7"/>
          <p:cNvSpPr/>
          <p:nvPr/>
        </p:nvSpPr>
        <p:spPr>
          <a:xfrm>
            <a:off x="812780" y="3933825"/>
            <a:ext cx="4851279" cy="1911350"/>
          </a:xfrm>
          <a:prstGeom prst="rect">
            <a:avLst/>
          </a:prstGeom>
          <a:noFill/>
          <a:ln/>
        </p:spPr>
        <p:txBody>
          <a:bodyPr wrap="square" lIns="0" tIns="0" rIns="0" bIns="0" rtlCol="0" anchor="t">
            <a:normAutofit/>
          </a:bodyPr>
          <a:lstStyle/>
          <a:p>
            <a:pPr marL="365760" indent="-365760" algn="l">
              <a:lnSpc>
                <a:spcPct val="125000"/>
              </a:lnSpc>
              <a:buSzPct val="100000"/>
              <a:buFont typeface="+mj-lt"/>
              <a:buAutoNum type="arabicPeriod"/>
            </a:pPr>
            <a:r>
              <a:rPr lang="en-US" sz="1800" b="1" dirty="0">
                <a:solidFill>
                  <a:srgbClr val="000000"/>
                </a:solidFill>
                <a:latin typeface="Carlito Bold" pitchFamily="34" charset="0"/>
                <a:ea typeface="Carlito Bold" pitchFamily="34" charset="-122"/>
                <a:cs typeface="Carlito Bold" pitchFamily="34" charset="-120"/>
              </a:rPr>
              <a:t>Open terminal and edit </a:t>
            </a:r>
            <a:r>
              <a:rPr lang="en-US" sz="1800" b="1" dirty="0">
                <a:solidFill>
                  <a:srgbClr val="000000"/>
                </a:solidFill>
                <a:highlight>
                  <a:srgbClr val="F2F2F2"/>
                </a:highlight>
                <a:latin typeface="Consolas" pitchFamily="34" charset="0"/>
                <a:ea typeface="Consolas" pitchFamily="34" charset="-122"/>
                <a:cs typeface="Consolas" pitchFamily="34" charset="-120"/>
              </a:rPr>
              <a:t>organize.sh</a:t>
            </a:r>
            <a:r>
              <a:rPr lang="en-US" sz="1800" b="1" dirty="0">
                <a:solidFill>
                  <a:srgbClr val="000000"/>
                </a:solidFill>
                <a:latin typeface="Carlito Bold" pitchFamily="34" charset="0"/>
                <a:ea typeface="Carlito Bold" pitchFamily="34" charset="-122"/>
                <a:cs typeface="Carlito Bold" pitchFamily="34" charset="-120"/>
              </a:rPr>
              <a:t> using </a:t>
            </a:r>
            <a:r>
              <a:rPr lang="en-US" sz="1800" b="1" dirty="0">
                <a:solidFill>
                  <a:srgbClr val="000000"/>
                </a:solidFill>
                <a:highlight>
                  <a:srgbClr val="F2F2F2"/>
                </a:highlight>
                <a:latin typeface="Consolas" pitchFamily="34" charset="0"/>
                <a:ea typeface="Consolas" pitchFamily="34" charset="-122"/>
                <a:cs typeface="Consolas" pitchFamily="34" charset="-120"/>
              </a:rPr>
              <a:t>nano</a:t>
            </a:r>
            <a:r>
              <a:rPr lang="en-US" sz="1800" b="1" dirty="0">
                <a:solidFill>
                  <a:srgbClr val="000000"/>
                </a:solidFill>
                <a:latin typeface="Carlito Bold" pitchFamily="34" charset="0"/>
                <a:ea typeface="Carlito Bold" pitchFamily="34" charset="-122"/>
                <a:cs typeface="Carlito Bold" pitchFamily="34" charset="-120"/>
              </a:rPr>
              <a:t>.</a:t>
            </a:r>
            <a:endParaRPr lang="en-US" sz="1800" dirty="0"/>
          </a:p>
          <a:p>
            <a:pPr marL="365760" indent="-365760" algn="l">
              <a:lnSpc>
                <a:spcPct val="125000"/>
              </a:lnSpc>
              <a:buSzPct val="100000"/>
              <a:buFont typeface="+mj-lt"/>
              <a:buAutoNum type="arabicPeriod" startAt="2"/>
            </a:pPr>
            <a:r>
              <a:rPr lang="en-US" sz="1800" b="1" dirty="0">
                <a:solidFill>
                  <a:srgbClr val="000000"/>
                </a:solidFill>
                <a:latin typeface="Carlito Bold" pitchFamily="34" charset="0"/>
                <a:ea typeface="Carlito Bold" pitchFamily="34" charset="-122"/>
                <a:cs typeface="Carlito Bold" pitchFamily="34" charset="-120"/>
              </a:rPr>
              <a:t>Run script using </a:t>
            </a:r>
            <a:r>
              <a:rPr lang="en-US" sz="1800" b="1" dirty="0">
                <a:solidFill>
                  <a:srgbClr val="000000"/>
                </a:solidFill>
                <a:highlight>
                  <a:srgbClr val="F2F2F2"/>
                </a:highlight>
                <a:latin typeface="Consolas" pitchFamily="34" charset="0"/>
                <a:ea typeface="Consolas" pitchFamily="34" charset="-122"/>
                <a:cs typeface="Consolas" pitchFamily="34" charset="-120"/>
              </a:rPr>
              <a:t>bash organize.sh</a:t>
            </a:r>
            <a:r>
              <a:rPr lang="en-US" sz="1800" b="1" dirty="0">
                <a:solidFill>
                  <a:srgbClr val="000000"/>
                </a:solidFill>
                <a:latin typeface="Carlito Bold" pitchFamily="34" charset="0"/>
                <a:ea typeface="Carlito Bold" pitchFamily="34" charset="-122"/>
                <a:cs typeface="Carlito Bold" pitchFamily="34" charset="-120"/>
              </a:rPr>
              <a:t>.</a:t>
            </a:r>
            <a:endParaRPr lang="en-US" sz="1800" dirty="0"/>
          </a:p>
          <a:p>
            <a:pPr marL="365760" indent="-365760" algn="l">
              <a:lnSpc>
                <a:spcPct val="125000"/>
              </a:lnSpc>
              <a:buSzPct val="100000"/>
              <a:buFont typeface="+mj-lt"/>
              <a:buAutoNum type="arabicPeriod" startAt="3"/>
            </a:pPr>
            <a:r>
              <a:rPr lang="en-US" sz="1800" b="1" dirty="0">
                <a:solidFill>
                  <a:srgbClr val="000000"/>
                </a:solidFill>
                <a:latin typeface="Carlito Bold" pitchFamily="34" charset="0"/>
                <a:ea typeface="Carlito Bold" pitchFamily="34" charset="-122"/>
                <a:cs typeface="Carlito Bold" pitchFamily="34" charset="-120"/>
              </a:rPr>
              <a:t>Script executes </a:t>
            </a:r>
            <a:r>
              <a:rPr lang="en-US" sz="1800" b="1" dirty="0">
                <a:solidFill>
                  <a:srgbClr val="000000"/>
                </a:solidFill>
                <a:highlight>
                  <a:srgbClr val="F2F2F2"/>
                </a:highlight>
                <a:latin typeface="Consolas" pitchFamily="34" charset="0"/>
                <a:ea typeface="Consolas" pitchFamily="34" charset="-122"/>
                <a:cs typeface="Consolas" pitchFamily="34" charset="-120"/>
              </a:rPr>
              <a:t>echo</a:t>
            </a:r>
            <a:r>
              <a:rPr lang="en-US" sz="1800" b="1" dirty="0">
                <a:solidFill>
                  <a:srgbClr val="000000"/>
                </a:solidFill>
                <a:latin typeface="Carlito Bold" pitchFamily="34" charset="0"/>
                <a:ea typeface="Carlito Bold" pitchFamily="34" charset="-122"/>
                <a:cs typeface="Carlito Bold" pitchFamily="34" charset="-120"/>
              </a:rPr>
              <a:t> and </a:t>
            </a:r>
            <a:r>
              <a:rPr lang="en-US" sz="1800" b="1" dirty="0">
                <a:solidFill>
                  <a:srgbClr val="000000"/>
                </a:solidFill>
                <a:highlight>
                  <a:srgbClr val="F2F2F2"/>
                </a:highlight>
                <a:latin typeface="Consolas" pitchFamily="34" charset="0"/>
                <a:ea typeface="Consolas" pitchFamily="34" charset="-122"/>
                <a:cs typeface="Consolas" pitchFamily="34" charset="-120"/>
              </a:rPr>
              <a:t>touch</a:t>
            </a:r>
            <a:r>
              <a:rPr lang="en-US" sz="1800" b="1" dirty="0">
                <a:solidFill>
                  <a:srgbClr val="000000"/>
                </a:solidFill>
                <a:latin typeface="Carlito Bold" pitchFamily="34" charset="0"/>
                <a:ea typeface="Carlito Bold" pitchFamily="34" charset="-122"/>
                <a:cs typeface="Carlito Bold" pitchFamily="34" charset="-120"/>
              </a:rPr>
              <a:t> commands sequentially.</a:t>
            </a:r>
            <a:endParaRPr lang="en-US" sz="1800" dirty="0"/>
          </a:p>
        </p:txBody>
      </p:sp>
      <p:sp>
        <p:nvSpPr>
          <p:cNvPr id="11" name="Shape 8"/>
          <p:cNvSpPr/>
          <p:nvPr/>
        </p:nvSpPr>
        <p:spPr>
          <a:xfrm>
            <a:off x="6324442" y="2984500"/>
            <a:ext cx="5257668" cy="3416300"/>
          </a:xfrm>
          <a:prstGeom prst="roundRect">
            <a:avLst>
              <a:gd name="adj" fmla="val 3426"/>
            </a:avLst>
          </a:prstGeom>
          <a:solidFill>
            <a:srgbClr val="F8EEEE"/>
          </a:solidFill>
          <a:ln/>
        </p:spPr>
        <p:txBody>
          <a:bodyPr/>
          <a:lstStyle/>
          <a:p>
            <a:endParaRPr lang="en-IN"/>
          </a:p>
        </p:txBody>
      </p:sp>
      <p:sp>
        <p:nvSpPr>
          <p:cNvPr id="12" name="Text 9"/>
          <p:cNvSpPr/>
          <p:nvPr/>
        </p:nvSpPr>
        <p:spPr>
          <a:xfrm>
            <a:off x="6527637" y="3136900"/>
            <a:ext cx="4851279" cy="457200"/>
          </a:xfrm>
          <a:prstGeom prst="rect">
            <a:avLst/>
          </a:prstGeom>
          <a:noFill/>
          <a:ln/>
        </p:spPr>
        <p:txBody>
          <a:bodyPr wrap="none" lIns="0" tIns="0" rIns="0" bIns="0" rtlCol="0" anchor="t"/>
          <a:lstStyle/>
          <a:p>
            <a:pPr marL="0" indent="0" algn="ctr">
              <a:lnSpc>
                <a:spcPct val="100000"/>
              </a:lnSpc>
              <a:buNone/>
            </a:pPr>
            <a:r>
              <a:rPr lang="en-US" sz="3000" b="1" dirty="0">
                <a:solidFill>
                  <a:srgbClr val="000000"/>
                </a:solidFill>
                <a:latin typeface="Caladea Bold" pitchFamily="34" charset="0"/>
                <a:ea typeface="Caladea Bold" pitchFamily="34" charset="-122"/>
                <a:cs typeface="Caladea Bold" pitchFamily="34" charset="-120"/>
              </a:rPr>
              <a:t>Process Flow</a:t>
            </a:r>
            <a:endParaRPr lang="en-US" sz="3000" dirty="0"/>
          </a:p>
        </p:txBody>
      </p:sp>
      <p:sp>
        <p:nvSpPr>
          <p:cNvPr id="13" name="Text 10"/>
          <p:cNvSpPr/>
          <p:nvPr/>
        </p:nvSpPr>
        <p:spPr>
          <a:xfrm>
            <a:off x="6527637" y="3933825"/>
            <a:ext cx="4851279" cy="1028700"/>
          </a:xfrm>
          <a:prstGeom prst="rect">
            <a:avLst/>
          </a:prstGeom>
          <a:noFill/>
          <a:ln/>
        </p:spPr>
        <p:txBody>
          <a:bodyPr wrap="square" lIns="0" tIns="0" rIns="0" bIns="0" rtlCol="0" anchor="t">
            <a:normAutofit/>
          </a:bodyPr>
          <a:lstStyle/>
          <a:p>
            <a:pPr marL="0" indent="0" algn="ctr">
              <a:lnSpc>
                <a:spcPct val="125000"/>
              </a:lnSpc>
              <a:buNone/>
            </a:pPr>
            <a:r>
              <a:rPr lang="en-US" sz="1800" b="1" dirty="0">
                <a:solidFill>
                  <a:srgbClr val="000000"/>
                </a:solidFill>
                <a:latin typeface="Carlito Bold" pitchFamily="34" charset="0"/>
                <a:ea typeface="Carlito Bold" pitchFamily="34" charset="-122"/>
                <a:cs typeface="Carlito Bold" pitchFamily="34" charset="-120"/>
              </a:rPr>
              <a:t>Start → Open Terminal → Edit/Create Script → Save &amp; Exit → Execute Script → Output Displayed → End.</a:t>
            </a:r>
            <a:endParaRPr lang="en-US" sz="1800" dirty="0"/>
          </a:p>
        </p:txBody>
      </p:sp>
      <p:pic>
        <p:nvPicPr>
          <p:cNvPr id="15" name="Picture 14">
            <a:extLst>
              <a:ext uri="{FF2B5EF4-FFF2-40B4-BE49-F238E27FC236}">
                <a16:creationId xmlns:a16="http://schemas.microsoft.com/office/drawing/2014/main" id="{0F2BBD5A-8B40-F74D-04C2-4654B5B7CCDF}"/>
              </a:ext>
            </a:extLst>
          </p:cNvPr>
          <p:cNvPicPr>
            <a:picLocks noChangeAspect="1"/>
          </p:cNvPicPr>
          <p:nvPr/>
        </p:nvPicPr>
        <p:blipFill>
          <a:blip r:embed="rId4"/>
          <a:stretch>
            <a:fillRect/>
          </a:stretch>
        </p:blipFill>
        <p:spPr>
          <a:xfrm>
            <a:off x="11076598" y="6463810"/>
            <a:ext cx="1053199" cy="3663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5F03F9C-1A14-4710-3637-F3AA358666AB}"/>
              </a:ext>
            </a:extLst>
          </p:cNvPr>
          <p:cNvPicPr>
            <a:picLocks noChangeAspect="1"/>
          </p:cNvPicPr>
          <p:nvPr/>
        </p:nvPicPr>
        <p:blipFill>
          <a:blip r:embed="rId3"/>
          <a:stretch>
            <a:fillRect/>
          </a:stretch>
        </p:blipFill>
        <p:spPr>
          <a:xfrm>
            <a:off x="11076598" y="6463810"/>
            <a:ext cx="1053199" cy="366330"/>
          </a:xfrm>
          <a:prstGeom prst="rect">
            <a:avLst/>
          </a:prstGeom>
        </p:spPr>
      </p:pic>
      <p:pic>
        <p:nvPicPr>
          <p:cNvPr id="2" name="Image 0" descr="preencoded.png"/>
          <p:cNvPicPr>
            <a:picLocks noChangeAspect="1"/>
          </p:cNvPicPr>
          <p:nvPr/>
        </p:nvPicPr>
        <p:blipFill>
          <a:blip r:embed="rId4"/>
          <a:stretch>
            <a:fillRect/>
          </a:stretch>
        </p:blipFill>
        <p:spPr>
          <a:xfrm>
            <a:off x="609585" y="487660"/>
            <a:ext cx="2925987" cy="1409998"/>
          </a:xfrm>
          <a:prstGeom prst="rect">
            <a:avLst/>
          </a:prstGeom>
        </p:spPr>
      </p:pic>
      <p:sp>
        <p:nvSpPr>
          <p:cNvPr id="3" name="Shape 0"/>
          <p:cNvSpPr/>
          <p:nvPr/>
        </p:nvSpPr>
        <p:spPr>
          <a:xfrm>
            <a:off x="8534187" y="548580"/>
            <a:ext cx="3047924" cy="487660"/>
          </a:xfrm>
          <a:prstGeom prst="roundRect">
            <a:avLst>
              <a:gd name="adj" fmla="val 49999"/>
            </a:avLst>
          </a:prstGeom>
          <a:solidFill>
            <a:srgbClr val="F8EEEE"/>
          </a:solidFill>
          <a:ln/>
        </p:spPr>
        <p:txBody>
          <a:bodyPr/>
          <a:lstStyle/>
          <a:p>
            <a:endParaRPr lang="en-IN"/>
          </a:p>
        </p:txBody>
      </p:sp>
      <p:sp>
        <p:nvSpPr>
          <p:cNvPr id="4" name="Text 1"/>
          <p:cNvSpPr/>
          <p:nvPr/>
        </p:nvSpPr>
        <p:spPr>
          <a:xfrm>
            <a:off x="8229394" y="636191"/>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Dept. of CSA – BCA</a:t>
            </a:r>
            <a:endParaRPr lang="en-US" sz="1850" dirty="0"/>
          </a:p>
        </p:txBody>
      </p:sp>
      <p:sp>
        <p:nvSpPr>
          <p:cNvPr id="5" name="Shape 2"/>
          <p:cNvSpPr/>
          <p:nvPr/>
        </p:nvSpPr>
        <p:spPr>
          <a:xfrm>
            <a:off x="8534187" y="1182588"/>
            <a:ext cx="3047924" cy="487660"/>
          </a:xfrm>
          <a:prstGeom prst="roundRect">
            <a:avLst>
              <a:gd name="adj" fmla="val 49999"/>
            </a:avLst>
          </a:prstGeom>
          <a:solidFill>
            <a:srgbClr val="F8EEEE"/>
          </a:solidFill>
          <a:ln/>
        </p:spPr>
        <p:txBody>
          <a:bodyPr/>
          <a:lstStyle/>
          <a:p>
            <a:endParaRPr lang="en-IN"/>
          </a:p>
        </p:txBody>
      </p:sp>
      <p:sp>
        <p:nvSpPr>
          <p:cNvPr id="6" name="Text 3"/>
          <p:cNvSpPr/>
          <p:nvPr/>
        </p:nvSpPr>
        <p:spPr>
          <a:xfrm>
            <a:off x="8229394" y="1270198"/>
            <a:ext cx="3657509" cy="356295"/>
          </a:xfrm>
          <a:prstGeom prst="rect">
            <a:avLst/>
          </a:prstGeom>
          <a:noFill/>
          <a:ln/>
        </p:spPr>
        <p:txBody>
          <a:bodyPr wrap="none" lIns="0" tIns="0" rIns="0" bIns="0" rtlCol="0" anchor="t"/>
          <a:lstStyle/>
          <a:p>
            <a:pPr marL="0" indent="0" algn="ctr">
              <a:lnSpc>
                <a:spcPct val="125000"/>
              </a:lnSpc>
              <a:buNone/>
            </a:pPr>
            <a:r>
              <a:rPr lang="en-US" sz="1850" b="1" dirty="0">
                <a:solidFill>
                  <a:srgbClr val="A90000"/>
                </a:solidFill>
                <a:latin typeface="Carlito Bold" pitchFamily="34" charset="0"/>
                <a:ea typeface="Carlito Bold" pitchFamily="34" charset="-122"/>
                <a:cs typeface="Carlito Bold" pitchFamily="34" charset="-120"/>
              </a:rPr>
              <a:t>I Year – I Semester</a:t>
            </a:r>
            <a:endParaRPr lang="en-US" sz="1850" dirty="0"/>
          </a:p>
        </p:txBody>
      </p:sp>
      <p:sp>
        <p:nvSpPr>
          <p:cNvPr id="7" name="Text 4"/>
          <p:cNvSpPr/>
          <p:nvPr/>
        </p:nvSpPr>
        <p:spPr>
          <a:xfrm>
            <a:off x="609585" y="1905000"/>
            <a:ext cx="10972526" cy="670520"/>
          </a:xfrm>
          <a:prstGeom prst="rect">
            <a:avLst/>
          </a:prstGeom>
          <a:noFill/>
          <a:ln/>
        </p:spPr>
        <p:txBody>
          <a:bodyPr wrap="none" lIns="0" tIns="0" rIns="0" bIns="0" rtlCol="0" anchor="t"/>
          <a:lstStyle/>
          <a:p>
            <a:pPr marL="0" indent="0" algn="l">
              <a:lnSpc>
                <a:spcPct val="100000"/>
              </a:lnSpc>
              <a:buNone/>
            </a:pPr>
            <a:r>
              <a:rPr lang="en-US" sz="4400" b="1" kern="100" spc="56" dirty="0">
                <a:solidFill>
                  <a:srgbClr val="1F1A1A"/>
                </a:solidFill>
                <a:latin typeface="Caladea Bold" pitchFamily="34" charset="0"/>
                <a:ea typeface="Caladea Bold" pitchFamily="34" charset="-122"/>
                <a:cs typeface="Caladea Bold" pitchFamily="34" charset="-120"/>
              </a:rPr>
              <a:t>Algorithm</a:t>
            </a:r>
            <a:endParaRPr lang="en-US" sz="4400" dirty="0"/>
          </a:p>
        </p:txBody>
      </p:sp>
      <p:sp>
        <p:nvSpPr>
          <p:cNvPr id="8" name="Shape 5"/>
          <p:cNvSpPr/>
          <p:nvPr/>
        </p:nvSpPr>
        <p:spPr>
          <a:xfrm>
            <a:off x="609585" y="2921000"/>
            <a:ext cx="10972526" cy="2952557"/>
          </a:xfrm>
          <a:prstGeom prst="roundRect">
            <a:avLst>
              <a:gd name="adj" fmla="val 2973"/>
            </a:avLst>
          </a:prstGeom>
          <a:solidFill>
            <a:srgbClr val="F8EEEE"/>
          </a:solidFill>
          <a:ln/>
        </p:spPr>
        <p:txBody>
          <a:bodyPr/>
          <a:lstStyle/>
          <a:p>
            <a:endParaRPr lang="en-IN"/>
          </a:p>
        </p:txBody>
      </p:sp>
      <p:sp>
        <p:nvSpPr>
          <p:cNvPr id="9" name="Text 6"/>
          <p:cNvSpPr/>
          <p:nvPr/>
        </p:nvSpPr>
        <p:spPr>
          <a:xfrm>
            <a:off x="812780" y="3048000"/>
            <a:ext cx="10566136" cy="2952750"/>
          </a:xfrm>
          <a:prstGeom prst="rect">
            <a:avLst/>
          </a:prstGeom>
          <a:noFill/>
          <a:ln/>
        </p:spPr>
        <p:txBody>
          <a:bodyPr wrap="square" lIns="0" tIns="0" rIns="0" bIns="0" rtlCol="0" anchor="t">
            <a:normAutofit/>
          </a:bodyPr>
          <a:lstStyle/>
          <a:p>
            <a:pPr marL="365760" indent="-365760" algn="l">
              <a:lnSpc>
                <a:spcPct val="125000"/>
              </a:lnSpc>
              <a:buSzPct val="100000"/>
              <a:buFont typeface="+mj-lt"/>
              <a:buAutoNum type="arabicPeriod"/>
            </a:pPr>
            <a:r>
              <a:rPr lang="en-US" sz="1800" b="1" dirty="0">
                <a:solidFill>
                  <a:srgbClr val="000000"/>
                </a:solidFill>
                <a:latin typeface="Carlito Bold" pitchFamily="34" charset="0"/>
                <a:ea typeface="Carlito Bold" pitchFamily="34" charset="-122"/>
                <a:cs typeface="Carlito Bold" pitchFamily="34" charset="-120"/>
              </a:rPr>
              <a:t>Start the terminal.</a:t>
            </a:r>
            <a:endParaRPr lang="en-US" sz="1800" dirty="0"/>
          </a:p>
          <a:p>
            <a:pPr marL="365760" indent="-365760" algn="l">
              <a:lnSpc>
                <a:spcPct val="125000"/>
              </a:lnSpc>
              <a:buSzPct val="100000"/>
              <a:buFont typeface="+mj-lt"/>
              <a:buAutoNum type="arabicPeriod" startAt="2"/>
            </a:pPr>
            <a:r>
              <a:rPr lang="en-US" sz="1800" b="1" dirty="0">
                <a:solidFill>
                  <a:srgbClr val="000000"/>
                </a:solidFill>
                <a:latin typeface="Carlito Bold" pitchFamily="34" charset="0"/>
                <a:ea typeface="Carlito Bold" pitchFamily="34" charset="-122"/>
                <a:cs typeface="Carlito Bold" pitchFamily="34" charset="-120"/>
              </a:rPr>
              <a:t>Create or open </a:t>
            </a:r>
            <a:r>
              <a:rPr lang="en-US" sz="1800" b="1" dirty="0">
                <a:solidFill>
                  <a:srgbClr val="000000"/>
                </a:solidFill>
                <a:highlight>
                  <a:srgbClr val="F2F2F2"/>
                </a:highlight>
                <a:latin typeface="Consolas" pitchFamily="34" charset="0"/>
                <a:ea typeface="Consolas" pitchFamily="34" charset="-122"/>
                <a:cs typeface="Consolas" pitchFamily="34" charset="-120"/>
              </a:rPr>
              <a:t>organize.sh</a:t>
            </a:r>
            <a:r>
              <a:rPr lang="en-US" sz="1800" b="1" dirty="0">
                <a:solidFill>
                  <a:srgbClr val="000000"/>
                </a:solidFill>
                <a:latin typeface="Carlito Bold" pitchFamily="34" charset="0"/>
                <a:ea typeface="Carlito Bold" pitchFamily="34" charset="-122"/>
                <a:cs typeface="Carlito Bold" pitchFamily="34" charset="-120"/>
              </a:rPr>
              <a:t> using </a:t>
            </a:r>
            <a:r>
              <a:rPr lang="en-US" sz="1800" b="1" dirty="0">
                <a:solidFill>
                  <a:srgbClr val="000000"/>
                </a:solidFill>
                <a:highlight>
                  <a:srgbClr val="F2F2F2"/>
                </a:highlight>
                <a:latin typeface="Consolas" pitchFamily="34" charset="0"/>
                <a:ea typeface="Consolas" pitchFamily="34" charset="-122"/>
                <a:cs typeface="Consolas" pitchFamily="34" charset="-120"/>
              </a:rPr>
              <a:t>nano</a:t>
            </a:r>
            <a:r>
              <a:rPr lang="en-US" sz="1800" b="1" dirty="0">
                <a:solidFill>
                  <a:srgbClr val="000000"/>
                </a:solidFill>
                <a:latin typeface="Carlito Bold" pitchFamily="34" charset="0"/>
                <a:ea typeface="Carlito Bold" pitchFamily="34" charset="-122"/>
                <a:cs typeface="Carlito Bold" pitchFamily="34" charset="-120"/>
              </a:rPr>
              <a:t>.</a:t>
            </a:r>
            <a:endParaRPr lang="en-US" sz="1800" dirty="0"/>
          </a:p>
          <a:p>
            <a:pPr marL="365760" indent="-365760" algn="l">
              <a:lnSpc>
                <a:spcPct val="125000"/>
              </a:lnSpc>
              <a:buSzPct val="100000"/>
              <a:buFont typeface="+mj-lt"/>
              <a:buAutoNum type="arabicPeriod" startAt="3"/>
            </a:pPr>
            <a:r>
              <a:rPr lang="en-US" sz="1800" b="1" dirty="0">
                <a:solidFill>
                  <a:srgbClr val="000000"/>
                </a:solidFill>
                <a:latin typeface="Carlito Bold" pitchFamily="34" charset="0"/>
                <a:ea typeface="Carlito Bold" pitchFamily="34" charset="-122"/>
                <a:cs typeface="Carlito Bold" pitchFamily="34" charset="-120"/>
              </a:rPr>
              <a:t>Display project heading: </a:t>
            </a:r>
            <a:r>
              <a:rPr lang="en-US" sz="1800" b="1" dirty="0">
                <a:solidFill>
                  <a:srgbClr val="000000"/>
                </a:solidFill>
                <a:highlight>
                  <a:srgbClr val="F2F2F2"/>
                </a:highlight>
                <a:latin typeface="Consolas" pitchFamily="34" charset="0"/>
                <a:ea typeface="Consolas" pitchFamily="34" charset="-122"/>
                <a:cs typeface="Consolas" pitchFamily="34" charset="-120"/>
              </a:rPr>
              <a:t>PERSONAL FILE ORGANIZER</a:t>
            </a:r>
            <a:r>
              <a:rPr lang="en-US" sz="1800" b="1" dirty="0">
                <a:solidFill>
                  <a:srgbClr val="000000"/>
                </a:solidFill>
                <a:latin typeface="Carlito Bold" pitchFamily="34" charset="0"/>
                <a:ea typeface="Carlito Bold" pitchFamily="34" charset="-122"/>
                <a:cs typeface="Carlito Bold" pitchFamily="34" charset="-120"/>
              </a:rPr>
              <a:t>.</a:t>
            </a:r>
            <a:endParaRPr lang="en-US" sz="1800" dirty="0"/>
          </a:p>
          <a:p>
            <a:pPr marL="365760" indent="-365760" algn="l">
              <a:lnSpc>
                <a:spcPct val="125000"/>
              </a:lnSpc>
              <a:buSzPct val="100000"/>
              <a:buFont typeface="+mj-lt"/>
              <a:buAutoNum type="arabicPeriod" startAt="4"/>
            </a:pPr>
            <a:r>
              <a:rPr lang="en-US" sz="1800" b="1" dirty="0">
                <a:solidFill>
                  <a:srgbClr val="000000"/>
                </a:solidFill>
                <a:latin typeface="Carlito Bold" pitchFamily="34" charset="0"/>
                <a:ea typeface="Carlito Bold" pitchFamily="34" charset="-122"/>
                <a:cs typeface="Carlito Bold" pitchFamily="34" charset="-120"/>
              </a:rPr>
              <a:t>Create sample files (</a:t>
            </a:r>
            <a:r>
              <a:rPr lang="en-US" sz="1800" b="1" dirty="0">
                <a:solidFill>
                  <a:srgbClr val="000000"/>
                </a:solidFill>
                <a:highlight>
                  <a:srgbClr val="F2F2F2"/>
                </a:highlight>
                <a:latin typeface="Consolas" pitchFamily="34" charset="0"/>
                <a:ea typeface="Consolas" pitchFamily="34" charset="-122"/>
                <a:cs typeface="Consolas" pitchFamily="34" charset="-120"/>
              </a:rPr>
              <a:t>Documents/notes.txt</a:t>
            </a:r>
            <a:r>
              <a:rPr lang="en-US" sz="1800" b="1" dirty="0">
                <a:solidFill>
                  <a:srgbClr val="000000"/>
                </a:solidFill>
                <a:latin typeface="Carlito Bold" pitchFamily="34" charset="0"/>
                <a:ea typeface="Carlito Bold" pitchFamily="34" charset="-122"/>
                <a:cs typeface="Carlito Bold" pitchFamily="34" charset="-120"/>
              </a:rPr>
              <a:t>, </a:t>
            </a:r>
            <a:r>
              <a:rPr lang="en-US" sz="1800" b="1" dirty="0">
                <a:solidFill>
                  <a:srgbClr val="000000"/>
                </a:solidFill>
                <a:highlight>
                  <a:srgbClr val="F2F2F2"/>
                </a:highlight>
                <a:latin typeface="Consolas" pitchFamily="34" charset="0"/>
                <a:ea typeface="Consolas" pitchFamily="34" charset="-122"/>
                <a:cs typeface="Consolas" pitchFamily="34" charset="-120"/>
              </a:rPr>
              <a:t>Images/photo.jpg</a:t>
            </a:r>
            <a:r>
              <a:rPr lang="en-US" sz="1800" b="1" dirty="0">
                <a:solidFill>
                  <a:srgbClr val="000000"/>
                </a:solidFill>
                <a:latin typeface="Carlito Bold" pitchFamily="34" charset="0"/>
                <a:ea typeface="Carlito Bold" pitchFamily="34" charset="-122"/>
                <a:cs typeface="Carlito Bold" pitchFamily="34" charset="-120"/>
              </a:rPr>
              <a:t>) using </a:t>
            </a:r>
            <a:r>
              <a:rPr lang="en-US" sz="1800" b="1" dirty="0">
                <a:solidFill>
                  <a:srgbClr val="000000"/>
                </a:solidFill>
                <a:highlight>
                  <a:srgbClr val="F2F2F2"/>
                </a:highlight>
                <a:latin typeface="Consolas" pitchFamily="34" charset="0"/>
                <a:ea typeface="Consolas" pitchFamily="34" charset="-122"/>
                <a:cs typeface="Consolas" pitchFamily="34" charset="-120"/>
              </a:rPr>
              <a:t>touch</a:t>
            </a:r>
            <a:r>
              <a:rPr lang="en-US" sz="1800" b="1" dirty="0">
                <a:solidFill>
                  <a:srgbClr val="000000"/>
                </a:solidFill>
                <a:latin typeface="Carlito Bold" pitchFamily="34" charset="0"/>
                <a:ea typeface="Carlito Bold" pitchFamily="34" charset="-122"/>
                <a:cs typeface="Carlito Bold" pitchFamily="34" charset="-120"/>
              </a:rPr>
              <a:t>.</a:t>
            </a:r>
            <a:endParaRPr lang="en-US" sz="1800" dirty="0"/>
          </a:p>
          <a:p>
            <a:pPr marL="365760" indent="-365760" algn="l">
              <a:lnSpc>
                <a:spcPct val="125000"/>
              </a:lnSpc>
              <a:buSzPct val="100000"/>
              <a:buFont typeface="+mj-lt"/>
              <a:buAutoNum type="arabicPeriod" startAt="5"/>
            </a:pPr>
            <a:r>
              <a:rPr lang="en-US" sz="1800" b="1" dirty="0">
                <a:solidFill>
                  <a:srgbClr val="000000"/>
                </a:solidFill>
                <a:latin typeface="Carlito Bold" pitchFamily="34" charset="0"/>
                <a:ea typeface="Carlito Bold" pitchFamily="34" charset="-122"/>
                <a:cs typeface="Carlito Bold" pitchFamily="34" charset="-120"/>
              </a:rPr>
              <a:t>Display </a:t>
            </a:r>
            <a:r>
              <a:rPr lang="en-US" sz="1800" b="1" dirty="0">
                <a:solidFill>
                  <a:srgbClr val="000000"/>
                </a:solidFill>
                <a:highlight>
                  <a:srgbClr val="F2F2F2"/>
                </a:highlight>
                <a:latin typeface="Consolas" pitchFamily="34" charset="0"/>
                <a:ea typeface="Consolas" pitchFamily="34" charset="-122"/>
                <a:cs typeface="Consolas" pitchFamily="34" charset="-120"/>
              </a:rPr>
              <a:t>File1.txt</a:t>
            </a:r>
            <a:r>
              <a:rPr lang="en-US" sz="1800" b="1" dirty="0">
                <a:solidFill>
                  <a:srgbClr val="000000"/>
                </a:solidFill>
                <a:latin typeface="Carlito Bold" pitchFamily="34" charset="0"/>
                <a:ea typeface="Carlito Bold" pitchFamily="34" charset="-122"/>
                <a:cs typeface="Carlito Bold" pitchFamily="34" charset="-120"/>
              </a:rPr>
              <a:t>, </a:t>
            </a:r>
            <a:r>
              <a:rPr lang="en-US" sz="1800" b="1" dirty="0">
                <a:solidFill>
                  <a:srgbClr val="000000"/>
                </a:solidFill>
                <a:highlight>
                  <a:srgbClr val="F2F2F2"/>
                </a:highlight>
                <a:latin typeface="Consolas" pitchFamily="34" charset="0"/>
                <a:ea typeface="Consolas" pitchFamily="34" charset="-122"/>
                <a:cs typeface="Consolas" pitchFamily="34" charset="-120"/>
              </a:rPr>
              <a:t>File2.txt</a:t>
            </a:r>
            <a:r>
              <a:rPr lang="en-US" sz="1800" b="1" dirty="0">
                <a:solidFill>
                  <a:srgbClr val="000000"/>
                </a:solidFill>
                <a:latin typeface="Carlito Bold" pitchFamily="34" charset="0"/>
                <a:ea typeface="Carlito Bold" pitchFamily="34" charset="-122"/>
                <a:cs typeface="Carlito Bold" pitchFamily="34" charset="-120"/>
              </a:rPr>
              <a:t>, and </a:t>
            </a:r>
            <a:r>
              <a:rPr lang="en-US" sz="1800" b="1" dirty="0">
                <a:solidFill>
                  <a:srgbClr val="000000"/>
                </a:solidFill>
                <a:highlight>
                  <a:srgbClr val="F2F2F2"/>
                </a:highlight>
                <a:latin typeface="Consolas" pitchFamily="34" charset="0"/>
                <a:ea typeface="Consolas" pitchFamily="34" charset="-122"/>
                <a:cs typeface="Consolas" pitchFamily="34" charset="-120"/>
              </a:rPr>
              <a:t>File3.txt</a:t>
            </a:r>
            <a:r>
              <a:rPr lang="en-US" sz="1800" b="1" dirty="0">
                <a:solidFill>
                  <a:srgbClr val="000000"/>
                </a:solidFill>
                <a:latin typeface="Carlito Bold" pitchFamily="34" charset="0"/>
                <a:ea typeface="Carlito Bold" pitchFamily="34" charset="-122"/>
                <a:cs typeface="Carlito Bold" pitchFamily="34" charset="-120"/>
              </a:rPr>
              <a:t> in order.</a:t>
            </a:r>
            <a:endParaRPr lang="en-US" sz="1800" dirty="0"/>
          </a:p>
          <a:p>
            <a:pPr marL="365760" indent="-365760" algn="l">
              <a:lnSpc>
                <a:spcPct val="125000"/>
              </a:lnSpc>
              <a:buSzPct val="100000"/>
              <a:buFont typeface="+mj-lt"/>
              <a:buAutoNum type="arabicPeriod" startAt="6"/>
            </a:pPr>
            <a:r>
              <a:rPr lang="en-US" sz="1800" b="1" dirty="0">
                <a:solidFill>
                  <a:srgbClr val="000000"/>
                </a:solidFill>
                <a:latin typeface="Carlito Bold" pitchFamily="34" charset="0"/>
                <a:ea typeface="Carlito Bold" pitchFamily="34" charset="-122"/>
                <a:cs typeface="Carlito Bold" pitchFamily="34" charset="-120"/>
              </a:rPr>
              <a:t>Print a blank line, display </a:t>
            </a:r>
            <a:r>
              <a:rPr lang="en-US" sz="1800" b="1" dirty="0">
                <a:solidFill>
                  <a:srgbClr val="000000"/>
                </a:solidFill>
                <a:highlight>
                  <a:srgbClr val="F2F2F2"/>
                </a:highlight>
                <a:latin typeface="Consolas" pitchFamily="34" charset="0"/>
                <a:ea typeface="Consolas" pitchFamily="34" charset="-122"/>
                <a:cs typeface="Consolas" pitchFamily="34" charset="-120"/>
              </a:rPr>
              <a:t>WORK FILES</a:t>
            </a:r>
            <a:r>
              <a:rPr lang="en-US" sz="1800" b="1" dirty="0">
                <a:solidFill>
                  <a:srgbClr val="000000"/>
                </a:solidFill>
                <a:latin typeface="Carlito Bold" pitchFamily="34" charset="0"/>
                <a:ea typeface="Carlito Bold" pitchFamily="34" charset="-122"/>
                <a:cs typeface="Carlito Bold" pitchFamily="34" charset="-120"/>
              </a:rPr>
              <a:t>, followed by </a:t>
            </a:r>
            <a:r>
              <a:rPr lang="en-US" sz="1800" b="1" dirty="0">
                <a:solidFill>
                  <a:srgbClr val="000000"/>
                </a:solidFill>
                <a:highlight>
                  <a:srgbClr val="F2F2F2"/>
                </a:highlight>
                <a:latin typeface="Consolas" pitchFamily="34" charset="0"/>
                <a:ea typeface="Consolas" pitchFamily="34" charset="-122"/>
                <a:cs typeface="Consolas" pitchFamily="34" charset="-120"/>
              </a:rPr>
              <a:t>Workfile 1</a:t>
            </a:r>
            <a:r>
              <a:rPr lang="en-US" sz="1800" b="1" dirty="0">
                <a:solidFill>
                  <a:srgbClr val="000000"/>
                </a:solidFill>
                <a:latin typeface="Carlito Bold" pitchFamily="34" charset="0"/>
                <a:ea typeface="Carlito Bold" pitchFamily="34" charset="-122"/>
                <a:cs typeface="Carlito Bold" pitchFamily="34" charset="-120"/>
              </a:rPr>
              <a:t>, </a:t>
            </a:r>
            <a:r>
              <a:rPr lang="en-US" sz="1800" b="1" dirty="0">
                <a:solidFill>
                  <a:srgbClr val="000000"/>
                </a:solidFill>
                <a:highlight>
                  <a:srgbClr val="F2F2F2"/>
                </a:highlight>
                <a:latin typeface="Consolas" pitchFamily="34" charset="0"/>
                <a:ea typeface="Consolas" pitchFamily="34" charset="-122"/>
                <a:cs typeface="Consolas" pitchFamily="34" charset="-120"/>
              </a:rPr>
              <a:t>Workfile 2</a:t>
            </a:r>
            <a:r>
              <a:rPr lang="en-US" sz="1800" b="1" dirty="0">
                <a:solidFill>
                  <a:srgbClr val="000000"/>
                </a:solidFill>
                <a:latin typeface="Carlito Bold" pitchFamily="34" charset="0"/>
                <a:ea typeface="Carlito Bold" pitchFamily="34" charset="-122"/>
                <a:cs typeface="Carlito Bold" pitchFamily="34" charset="-120"/>
              </a:rPr>
              <a:t>, and </a:t>
            </a:r>
            <a:r>
              <a:rPr lang="en-US" sz="1800" b="1" dirty="0">
                <a:solidFill>
                  <a:srgbClr val="000000"/>
                </a:solidFill>
                <a:highlight>
                  <a:srgbClr val="F2F2F2"/>
                </a:highlight>
                <a:latin typeface="Consolas" pitchFamily="34" charset="0"/>
                <a:ea typeface="Consolas" pitchFamily="34" charset="-122"/>
                <a:cs typeface="Consolas" pitchFamily="34" charset="-120"/>
              </a:rPr>
              <a:t>Workfile 3</a:t>
            </a:r>
            <a:r>
              <a:rPr lang="en-US" sz="1800" b="1" dirty="0">
                <a:solidFill>
                  <a:srgbClr val="000000"/>
                </a:solidFill>
                <a:latin typeface="Carlito Bold" pitchFamily="34" charset="0"/>
                <a:ea typeface="Carlito Bold" pitchFamily="34" charset="-122"/>
                <a:cs typeface="Carlito Bold" pitchFamily="34" charset="-120"/>
              </a:rPr>
              <a:t>.</a:t>
            </a:r>
            <a:endParaRPr lang="en-US" sz="1800" dirty="0"/>
          </a:p>
          <a:p>
            <a:pPr marL="365760" indent="-365760" algn="l">
              <a:lnSpc>
                <a:spcPct val="125000"/>
              </a:lnSpc>
              <a:buSzPct val="100000"/>
              <a:buFont typeface="+mj-lt"/>
              <a:buAutoNum type="arabicPeriod" startAt="7"/>
            </a:pPr>
            <a:r>
              <a:rPr lang="en-US" sz="1800" b="1" dirty="0">
                <a:solidFill>
                  <a:srgbClr val="000000"/>
                </a:solidFill>
                <a:latin typeface="Carlito Bold" pitchFamily="34" charset="0"/>
                <a:ea typeface="Carlito Bold" pitchFamily="34" charset="-122"/>
                <a:cs typeface="Carlito Bold" pitchFamily="34" charset="-120"/>
              </a:rPr>
              <a:t>Save script, exit editor, and run via </a:t>
            </a:r>
            <a:r>
              <a:rPr lang="en-US" sz="1800" b="1" dirty="0">
                <a:solidFill>
                  <a:srgbClr val="000000"/>
                </a:solidFill>
                <a:highlight>
                  <a:srgbClr val="F2F2F2"/>
                </a:highlight>
                <a:latin typeface="Consolas" pitchFamily="34" charset="0"/>
                <a:ea typeface="Consolas" pitchFamily="34" charset="-122"/>
                <a:cs typeface="Consolas" pitchFamily="34" charset="-120"/>
              </a:rPr>
              <a:t>bash organize.sh</a:t>
            </a:r>
            <a:r>
              <a:rPr lang="en-US" sz="1800" b="1" dirty="0">
                <a:solidFill>
                  <a:srgbClr val="000000"/>
                </a:solidFill>
                <a:latin typeface="Carlito Bold" pitchFamily="34" charset="0"/>
                <a:ea typeface="Carlito Bold" pitchFamily="34" charset="-122"/>
                <a:cs typeface="Carlito Bold" pitchFamily="34" charset="-120"/>
              </a:rPr>
              <a: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64406B-8492-C607-7389-7055F97163BC}"/>
              </a:ext>
            </a:extLst>
          </p:cNvPr>
          <p:cNvPicPr>
            <a:picLocks noChangeAspect="1"/>
          </p:cNvPicPr>
          <p:nvPr/>
        </p:nvPicPr>
        <p:blipFill>
          <a:blip r:embed="rId2"/>
          <a:stretch>
            <a:fillRect/>
          </a:stretch>
        </p:blipFill>
        <p:spPr>
          <a:xfrm>
            <a:off x="11073525" y="6360483"/>
            <a:ext cx="1036410" cy="464860"/>
          </a:xfrm>
          <a:prstGeom prst="rect">
            <a:avLst/>
          </a:prstGeom>
        </p:spPr>
      </p:pic>
      <p:pic>
        <p:nvPicPr>
          <p:cNvPr id="5" name="Image 0" descr="preencoded.png">
            <a:extLst>
              <a:ext uri="{FF2B5EF4-FFF2-40B4-BE49-F238E27FC236}">
                <a16:creationId xmlns:a16="http://schemas.microsoft.com/office/drawing/2014/main" id="{74C79CC2-9371-17BB-D169-F78BACD7827E}"/>
              </a:ext>
            </a:extLst>
          </p:cNvPr>
          <p:cNvPicPr>
            <a:picLocks noChangeAspect="1"/>
          </p:cNvPicPr>
          <p:nvPr/>
        </p:nvPicPr>
        <p:blipFill>
          <a:blip r:embed="rId3"/>
          <a:stretch>
            <a:fillRect/>
          </a:stretch>
        </p:blipFill>
        <p:spPr>
          <a:xfrm>
            <a:off x="609585" y="487660"/>
            <a:ext cx="2925987" cy="1409998"/>
          </a:xfrm>
          <a:prstGeom prst="rect">
            <a:avLst/>
          </a:prstGeom>
        </p:spPr>
      </p:pic>
      <p:pic>
        <p:nvPicPr>
          <p:cNvPr id="7" name="Picture 6">
            <a:extLst>
              <a:ext uri="{FF2B5EF4-FFF2-40B4-BE49-F238E27FC236}">
                <a16:creationId xmlns:a16="http://schemas.microsoft.com/office/drawing/2014/main" id="{0C20B98F-C5B9-255F-03BF-286C3CC7EEA4}"/>
              </a:ext>
            </a:extLst>
          </p:cNvPr>
          <p:cNvPicPr>
            <a:picLocks noChangeAspect="1"/>
          </p:cNvPicPr>
          <p:nvPr/>
        </p:nvPicPr>
        <p:blipFill>
          <a:blip r:embed="rId4"/>
          <a:stretch>
            <a:fillRect/>
          </a:stretch>
        </p:blipFill>
        <p:spPr>
          <a:xfrm>
            <a:off x="8736202" y="487660"/>
            <a:ext cx="2949196" cy="1348857"/>
          </a:xfrm>
          <a:prstGeom prst="rect">
            <a:avLst/>
          </a:prstGeom>
        </p:spPr>
      </p:pic>
      <p:sp>
        <p:nvSpPr>
          <p:cNvPr id="9" name="Shape 5">
            <a:extLst>
              <a:ext uri="{FF2B5EF4-FFF2-40B4-BE49-F238E27FC236}">
                <a16:creationId xmlns:a16="http://schemas.microsoft.com/office/drawing/2014/main" id="{3FC9208C-3DDD-506C-8AA1-06CEF9D90293}"/>
              </a:ext>
            </a:extLst>
          </p:cNvPr>
          <p:cNvSpPr/>
          <p:nvPr/>
        </p:nvSpPr>
        <p:spPr>
          <a:xfrm>
            <a:off x="609585" y="2438669"/>
            <a:ext cx="10972526" cy="3896815"/>
          </a:xfrm>
          <a:prstGeom prst="roundRect">
            <a:avLst>
              <a:gd name="adj" fmla="val 2973"/>
            </a:avLst>
          </a:prstGeom>
          <a:solidFill>
            <a:srgbClr val="F8EEEE"/>
          </a:solidFill>
          <a:ln/>
        </p:spPr>
        <p:txBody>
          <a:bodyPr/>
          <a:lstStyle/>
          <a:p>
            <a:endParaRPr lang="en-IN" dirty="0"/>
          </a:p>
        </p:txBody>
      </p:sp>
      <p:sp>
        <p:nvSpPr>
          <p:cNvPr id="11" name="Text 4">
            <a:extLst>
              <a:ext uri="{FF2B5EF4-FFF2-40B4-BE49-F238E27FC236}">
                <a16:creationId xmlns:a16="http://schemas.microsoft.com/office/drawing/2014/main" id="{77927C88-AB58-5F5E-E6CC-CE04C92945A4}"/>
              </a:ext>
            </a:extLst>
          </p:cNvPr>
          <p:cNvSpPr/>
          <p:nvPr/>
        </p:nvSpPr>
        <p:spPr>
          <a:xfrm>
            <a:off x="712872" y="2599090"/>
            <a:ext cx="10972526" cy="3581316"/>
          </a:xfrm>
          <a:prstGeom prst="rect">
            <a:avLst/>
          </a:prstGeom>
          <a:noFill/>
          <a:ln/>
        </p:spPr>
        <p:txBody>
          <a:bodyPr wrap="none" lIns="0" tIns="0" rIns="0" bIns="0" rtlCol="0" anchor="t"/>
          <a:lstStyle/>
          <a:p>
            <a:pPr marL="0" indent="0" algn="l">
              <a:lnSpc>
                <a:spcPct val="100000"/>
              </a:lnSpc>
              <a:buNone/>
            </a:pPr>
            <a:r>
              <a:rPr lang="en-US" sz="2400" b="1" kern="100" spc="56" dirty="0">
                <a:solidFill>
                  <a:srgbClr val="1F1A1A"/>
                </a:solidFill>
                <a:latin typeface="Caladea Bold" pitchFamily="34" charset="0"/>
              </a:rPr>
              <a:t>Input  </a:t>
            </a:r>
          </a:p>
          <a:p>
            <a:pPr marL="0" indent="0" algn="l">
              <a:lnSpc>
                <a:spcPct val="100000"/>
              </a:lnSpc>
              <a:buNone/>
            </a:pPr>
            <a:endParaRPr lang="en-US" sz="2400" b="1" kern="100" spc="56" dirty="0">
              <a:solidFill>
                <a:srgbClr val="1F1A1A"/>
              </a:solidFill>
              <a:latin typeface="Caladea Bold" pitchFamily="34" charset="0"/>
            </a:endParaRPr>
          </a:p>
          <a:p>
            <a:pPr marL="0" indent="0" algn="l">
              <a:lnSpc>
                <a:spcPct val="100000"/>
              </a:lnSpc>
              <a:buNone/>
            </a:pPr>
            <a:r>
              <a:rPr lang="en-US" sz="2400" b="1" kern="100" spc="56" dirty="0">
                <a:solidFill>
                  <a:srgbClr val="1F1A1A"/>
                </a:solidFill>
                <a:latin typeface="Caladea Bold" pitchFamily="34" charset="0"/>
              </a:rPr>
              <a:t>Process   </a:t>
            </a:r>
          </a:p>
          <a:p>
            <a:pPr marL="0" indent="0" algn="l">
              <a:lnSpc>
                <a:spcPct val="100000"/>
              </a:lnSpc>
              <a:buNone/>
            </a:pPr>
            <a:endParaRPr lang="en-US" sz="2400" dirty="0"/>
          </a:p>
        </p:txBody>
      </p:sp>
      <p:sp>
        <p:nvSpPr>
          <p:cNvPr id="13" name="Text 4">
            <a:extLst>
              <a:ext uri="{FF2B5EF4-FFF2-40B4-BE49-F238E27FC236}">
                <a16:creationId xmlns:a16="http://schemas.microsoft.com/office/drawing/2014/main" id="{FC38636D-EF5D-6C47-6EC6-C1D0DC69E0F2}"/>
              </a:ext>
            </a:extLst>
          </p:cNvPr>
          <p:cNvSpPr/>
          <p:nvPr/>
        </p:nvSpPr>
        <p:spPr>
          <a:xfrm>
            <a:off x="761985" y="1702833"/>
            <a:ext cx="10972526" cy="670520"/>
          </a:xfrm>
          <a:prstGeom prst="rect">
            <a:avLst/>
          </a:prstGeom>
          <a:noFill/>
          <a:ln/>
        </p:spPr>
        <p:txBody>
          <a:bodyPr wrap="none" lIns="0" tIns="0" rIns="0" bIns="0" rtlCol="0" anchor="t"/>
          <a:lstStyle/>
          <a:p>
            <a:pPr marL="0" indent="0" algn="l">
              <a:lnSpc>
                <a:spcPct val="100000"/>
              </a:lnSpc>
              <a:buNone/>
            </a:pPr>
            <a:r>
              <a:rPr lang="en-US" sz="4400" b="1" kern="100" spc="56" dirty="0">
                <a:solidFill>
                  <a:srgbClr val="1F1A1A"/>
                </a:solidFill>
                <a:latin typeface="Caladea Bold" pitchFamily="34" charset="0"/>
              </a:rPr>
              <a:t>Execution  </a:t>
            </a:r>
            <a:endParaRPr lang="en-US" sz="4400" dirty="0"/>
          </a:p>
        </p:txBody>
      </p:sp>
      <p:pic>
        <p:nvPicPr>
          <p:cNvPr id="15" name="Picture 14">
            <a:extLst>
              <a:ext uri="{FF2B5EF4-FFF2-40B4-BE49-F238E27FC236}">
                <a16:creationId xmlns:a16="http://schemas.microsoft.com/office/drawing/2014/main" id="{94FDC630-DF63-7A35-2F1B-49C155A255E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56033" y="2533774"/>
            <a:ext cx="5469255" cy="533400"/>
          </a:xfrm>
          <a:prstGeom prst="rect">
            <a:avLst/>
          </a:prstGeom>
          <a:noFill/>
          <a:ln>
            <a:noFill/>
          </a:ln>
        </p:spPr>
      </p:pic>
      <p:pic>
        <p:nvPicPr>
          <p:cNvPr id="17" name="Picture 16">
            <a:extLst>
              <a:ext uri="{FF2B5EF4-FFF2-40B4-BE49-F238E27FC236}">
                <a16:creationId xmlns:a16="http://schemas.microsoft.com/office/drawing/2014/main" id="{A29BFE95-F1DB-BAD6-BFA8-099E07860AF2}"/>
              </a:ext>
            </a:extLst>
          </p:cNvPr>
          <p:cNvPicPr>
            <a:picLocks noChangeAspect="1"/>
          </p:cNvPicPr>
          <p:nvPr/>
        </p:nvPicPr>
        <p:blipFill>
          <a:blip r:embed="rId6">
            <a:extLst>
              <a:ext uri="{28A0092B-C50C-407E-A947-70E740481C1C}">
                <a14:useLocalDpi xmlns:a14="http://schemas.microsoft.com/office/drawing/2010/main" val="0"/>
              </a:ext>
            </a:extLst>
          </a:blip>
          <a:srcRect t="13502" r="40623" b="27728"/>
          <a:stretch>
            <a:fillRect/>
          </a:stretch>
        </p:blipFill>
        <p:spPr bwMode="auto">
          <a:xfrm>
            <a:off x="2072578" y="3227595"/>
            <a:ext cx="2675533" cy="2244839"/>
          </a:xfrm>
          <a:prstGeom prst="rect">
            <a:avLst/>
          </a:prstGeom>
          <a:noFill/>
          <a:ln>
            <a:noFill/>
          </a:ln>
        </p:spPr>
      </p:pic>
      <p:sp>
        <p:nvSpPr>
          <p:cNvPr id="18" name="TextBox 17">
            <a:extLst>
              <a:ext uri="{FF2B5EF4-FFF2-40B4-BE49-F238E27FC236}">
                <a16:creationId xmlns:a16="http://schemas.microsoft.com/office/drawing/2014/main" id="{83496013-83AE-0240-475A-958558ECACB1}"/>
              </a:ext>
            </a:extLst>
          </p:cNvPr>
          <p:cNvSpPr txBox="1"/>
          <p:nvPr/>
        </p:nvSpPr>
        <p:spPr>
          <a:xfrm>
            <a:off x="5312076" y="3243921"/>
            <a:ext cx="1567543" cy="461665"/>
          </a:xfrm>
          <a:prstGeom prst="rect">
            <a:avLst/>
          </a:prstGeom>
          <a:noFill/>
        </p:spPr>
        <p:txBody>
          <a:bodyPr wrap="square" rtlCol="0">
            <a:spAutoFit/>
          </a:bodyPr>
          <a:lstStyle/>
          <a:p>
            <a:r>
              <a:rPr lang="en-IN" sz="2400" dirty="0">
                <a:latin typeface="Caladea Bold" panose="020B0604020202020204" charset="0"/>
              </a:rPr>
              <a:t>Output </a:t>
            </a:r>
          </a:p>
        </p:txBody>
      </p:sp>
      <p:pic>
        <p:nvPicPr>
          <p:cNvPr id="19" name="Picture 18">
            <a:extLst>
              <a:ext uri="{FF2B5EF4-FFF2-40B4-BE49-F238E27FC236}">
                <a16:creationId xmlns:a16="http://schemas.microsoft.com/office/drawing/2014/main" id="{F6100B6A-1BB8-694E-00EF-F14DE3D22FB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312076" y="3816758"/>
            <a:ext cx="5494655" cy="1752600"/>
          </a:xfrm>
          <a:prstGeom prst="rect">
            <a:avLst/>
          </a:prstGeom>
          <a:noFill/>
          <a:ln>
            <a:noFill/>
          </a:ln>
        </p:spPr>
      </p:pic>
    </p:spTree>
    <p:extLst>
      <p:ext uri="{BB962C8B-B14F-4D97-AF65-F5344CB8AC3E}">
        <p14:creationId xmlns:p14="http://schemas.microsoft.com/office/powerpoint/2010/main" val="126006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EB29E5-34D9-39E8-35A3-673E28E6DCBE}"/>
              </a:ext>
            </a:extLst>
          </p:cNvPr>
          <p:cNvPicPr>
            <a:picLocks noChangeAspect="1"/>
          </p:cNvPicPr>
          <p:nvPr/>
        </p:nvPicPr>
        <p:blipFill>
          <a:blip r:embed="rId3"/>
          <a:stretch>
            <a:fillRect/>
          </a:stretch>
        </p:blipFill>
        <p:spPr>
          <a:xfrm>
            <a:off x="246792" y="208349"/>
            <a:ext cx="11874585" cy="6574420"/>
          </a:xfrm>
          <a:prstGeom prst="rect">
            <a:avLst/>
          </a:prstGeom>
        </p:spPr>
      </p:pic>
      <p:sp>
        <p:nvSpPr>
          <p:cNvPr id="4" name="TextBox 3">
            <a:extLst>
              <a:ext uri="{FF2B5EF4-FFF2-40B4-BE49-F238E27FC236}">
                <a16:creationId xmlns:a16="http://schemas.microsoft.com/office/drawing/2014/main" id="{F8723ACD-A987-4F86-8D6E-179ED57A960C}"/>
              </a:ext>
            </a:extLst>
          </p:cNvPr>
          <p:cNvSpPr txBox="1"/>
          <p:nvPr/>
        </p:nvSpPr>
        <p:spPr>
          <a:xfrm>
            <a:off x="775503" y="1770927"/>
            <a:ext cx="11019099" cy="1446550"/>
          </a:xfrm>
          <a:prstGeom prst="rect">
            <a:avLst/>
          </a:prstGeom>
          <a:noFill/>
        </p:spPr>
        <p:txBody>
          <a:bodyPr wrap="square" rtlCol="0">
            <a:spAutoFit/>
          </a:bodyPr>
          <a:lstStyle/>
          <a:p>
            <a:r>
              <a:rPr lang="en-IN" sz="4400" b="1" dirty="0">
                <a:latin typeface="Caladea Bold" panose="020B0604020202020204" charset="0"/>
              </a:rPr>
              <a:t>12. Team Members and Responsibilities</a:t>
            </a:r>
          </a:p>
          <a:p>
            <a:endParaRPr lang="en-IN" sz="4400" dirty="0">
              <a:latin typeface="Caladea Bold" panose="020B0604020202020204" charset="0"/>
            </a:endParaRPr>
          </a:p>
        </p:txBody>
      </p:sp>
      <p:graphicFrame>
        <p:nvGraphicFramePr>
          <p:cNvPr id="5" name="Table 4">
            <a:extLst>
              <a:ext uri="{FF2B5EF4-FFF2-40B4-BE49-F238E27FC236}">
                <a16:creationId xmlns:a16="http://schemas.microsoft.com/office/drawing/2014/main" id="{AC6620C1-474A-277F-92F5-7E6BBA16649E}"/>
              </a:ext>
            </a:extLst>
          </p:cNvPr>
          <p:cNvGraphicFramePr>
            <a:graphicFrameLocks noGrp="1"/>
          </p:cNvGraphicFramePr>
          <p:nvPr>
            <p:extLst>
              <p:ext uri="{D42A27DB-BD31-4B8C-83A1-F6EECF244321}">
                <p14:modId xmlns:p14="http://schemas.microsoft.com/office/powerpoint/2010/main" val="1595324421"/>
              </p:ext>
            </p:extLst>
          </p:nvPr>
        </p:nvGraphicFramePr>
        <p:xfrm>
          <a:off x="862957" y="3084264"/>
          <a:ext cx="10399209" cy="2575755"/>
        </p:xfrm>
        <a:graphic>
          <a:graphicData uri="http://schemas.openxmlformats.org/drawingml/2006/table">
            <a:tbl>
              <a:tblPr firstRow="1" bandRow="1">
                <a:tableStyleId>{21E4AEA4-8DFA-4A89-87EB-49C32662AFE0}</a:tableStyleId>
              </a:tblPr>
              <a:tblGrid>
                <a:gridCol w="3466403">
                  <a:extLst>
                    <a:ext uri="{9D8B030D-6E8A-4147-A177-3AD203B41FA5}">
                      <a16:colId xmlns:a16="http://schemas.microsoft.com/office/drawing/2014/main" val="649399063"/>
                    </a:ext>
                  </a:extLst>
                </a:gridCol>
                <a:gridCol w="3466403">
                  <a:extLst>
                    <a:ext uri="{9D8B030D-6E8A-4147-A177-3AD203B41FA5}">
                      <a16:colId xmlns:a16="http://schemas.microsoft.com/office/drawing/2014/main" val="2229709894"/>
                    </a:ext>
                  </a:extLst>
                </a:gridCol>
                <a:gridCol w="3466403">
                  <a:extLst>
                    <a:ext uri="{9D8B030D-6E8A-4147-A177-3AD203B41FA5}">
                      <a16:colId xmlns:a16="http://schemas.microsoft.com/office/drawing/2014/main" val="2096932096"/>
                    </a:ext>
                  </a:extLst>
                </a:gridCol>
              </a:tblGrid>
              <a:tr h="858585">
                <a:tc>
                  <a:txBody>
                    <a:bodyPr/>
                    <a:lstStyle/>
                    <a:p>
                      <a:pPr algn="ctr">
                        <a:spcBef>
                          <a:spcPts val="1800"/>
                        </a:spcBef>
                        <a:spcAft>
                          <a:spcPts val="800"/>
                        </a:spcAft>
                        <a:buNone/>
                      </a:pPr>
                      <a:r>
                        <a:rPr lang="en-IN" sz="2000" b="1" kern="0" dirty="0">
                          <a:solidFill>
                            <a:srgbClr val="000000"/>
                          </a:solidFill>
                          <a:effectLst/>
                          <a:latin typeface="Caladea Bold" panose="020B0604020202020204" charset="0"/>
                        </a:rPr>
                        <a:t>TEAM MEMBER </a:t>
                      </a:r>
                      <a:endParaRPr lang="en-IN" sz="1600" b="1" kern="0" dirty="0">
                        <a:solidFill>
                          <a:srgbClr val="A90000"/>
                        </a:solidFill>
                        <a:effectLst/>
                        <a:latin typeface="Caladea Bold" panose="020B0604020202020204" charset="0"/>
                      </a:endParaRPr>
                    </a:p>
                  </a:txBody>
                  <a:tcPr marL="68580" marR="68580" marT="0" marB="0" anchor="ctr"/>
                </a:tc>
                <a:tc>
                  <a:txBody>
                    <a:bodyPr/>
                    <a:lstStyle/>
                    <a:p>
                      <a:pPr algn="ctr">
                        <a:spcBef>
                          <a:spcPts val="1800"/>
                        </a:spcBef>
                        <a:spcAft>
                          <a:spcPts val="800"/>
                        </a:spcAft>
                        <a:buNone/>
                      </a:pPr>
                      <a:r>
                        <a:rPr lang="en-IN" sz="2000" b="1" kern="0">
                          <a:solidFill>
                            <a:srgbClr val="000000"/>
                          </a:solidFill>
                          <a:effectLst/>
                          <a:latin typeface="Caladea Bold" panose="020B0604020202020204" charset="0"/>
                        </a:rPr>
                        <a:t>RESPONSIBILITIES </a:t>
                      </a:r>
                      <a:endParaRPr lang="en-IN" sz="1600" b="1" kern="0">
                        <a:solidFill>
                          <a:srgbClr val="A90000"/>
                        </a:solidFill>
                        <a:effectLst/>
                        <a:latin typeface="Caladea Bold" panose="020B0604020202020204" charset="0"/>
                      </a:endParaRPr>
                    </a:p>
                  </a:txBody>
                  <a:tcPr marL="68580" marR="68580" marT="0" marB="0" anchor="ctr"/>
                </a:tc>
                <a:tc>
                  <a:txBody>
                    <a:bodyPr/>
                    <a:lstStyle/>
                    <a:p>
                      <a:pPr algn="ctr">
                        <a:spcBef>
                          <a:spcPts val="1800"/>
                        </a:spcBef>
                        <a:spcAft>
                          <a:spcPts val="800"/>
                        </a:spcAft>
                        <a:buNone/>
                      </a:pPr>
                      <a:r>
                        <a:rPr lang="en-IN" sz="2000" b="1" kern="0">
                          <a:solidFill>
                            <a:srgbClr val="000000"/>
                          </a:solidFill>
                          <a:effectLst/>
                          <a:latin typeface="Caladea Bold" panose="020B0604020202020204" charset="0"/>
                        </a:rPr>
                        <a:t>DELIVERABLES </a:t>
                      </a:r>
                      <a:endParaRPr lang="en-IN" sz="1600" b="1" kern="0">
                        <a:solidFill>
                          <a:srgbClr val="A90000"/>
                        </a:solidFill>
                        <a:effectLst/>
                        <a:latin typeface="Caladea Bold" panose="020B0604020202020204" charset="0"/>
                      </a:endParaRPr>
                    </a:p>
                  </a:txBody>
                  <a:tcPr marL="68580" marR="68580" marT="0" marB="0" anchor="ctr"/>
                </a:tc>
                <a:extLst>
                  <a:ext uri="{0D108BD9-81ED-4DB2-BD59-A6C34878D82A}">
                    <a16:rowId xmlns:a16="http://schemas.microsoft.com/office/drawing/2014/main" val="804664969"/>
                  </a:ext>
                </a:extLst>
              </a:tr>
              <a:tr h="858585">
                <a:tc>
                  <a:txBody>
                    <a:bodyPr/>
                    <a:lstStyle/>
                    <a:p>
                      <a:pPr algn="ctr">
                        <a:spcBef>
                          <a:spcPts val="1800"/>
                        </a:spcBef>
                        <a:spcAft>
                          <a:spcPts val="800"/>
                        </a:spcAft>
                        <a:buNone/>
                      </a:pPr>
                      <a:r>
                        <a:rPr lang="en-IN" sz="1800" b="0" kern="0" dirty="0">
                          <a:solidFill>
                            <a:srgbClr val="000000"/>
                          </a:solidFill>
                          <a:effectLst/>
                          <a:latin typeface="Caladea Bold" panose="020B0604020202020204" charset="0"/>
                        </a:rPr>
                        <a:t>POSHIKA BOMMIDENI</a:t>
                      </a:r>
                      <a:endParaRPr lang="en-IN" sz="1600" b="1" kern="0" dirty="0">
                        <a:solidFill>
                          <a:srgbClr val="A90000"/>
                        </a:solidFill>
                        <a:effectLst/>
                        <a:latin typeface="Caladea Bold" panose="020B0604020202020204" charset="0"/>
                      </a:endParaRPr>
                    </a:p>
                  </a:txBody>
                  <a:tcPr marL="68580" marR="68580" marT="0" marB="0" anchor="ctr"/>
                </a:tc>
                <a:tc>
                  <a:txBody>
                    <a:bodyPr/>
                    <a:lstStyle/>
                    <a:p>
                      <a:pPr algn="ctr">
                        <a:spcBef>
                          <a:spcPts val="1800"/>
                        </a:spcBef>
                        <a:spcAft>
                          <a:spcPts val="800"/>
                        </a:spcAft>
                        <a:buNone/>
                      </a:pPr>
                      <a:r>
                        <a:rPr lang="en-IN" sz="1800" b="0" kern="0" dirty="0">
                          <a:solidFill>
                            <a:srgbClr val="000000"/>
                          </a:solidFill>
                          <a:effectLst/>
                          <a:latin typeface="Caladea Bold" panose="020B0604020202020204" charset="0"/>
                        </a:rPr>
                        <a:t>Problem analysis, Bash logic, path validation, file operations</a:t>
                      </a:r>
                      <a:endParaRPr lang="en-IN" sz="1600" b="1" kern="0" dirty="0">
                        <a:solidFill>
                          <a:srgbClr val="A90000"/>
                        </a:solidFill>
                        <a:effectLst/>
                        <a:latin typeface="Caladea Bold" panose="020B0604020202020204" charset="0"/>
                      </a:endParaRPr>
                    </a:p>
                  </a:txBody>
                  <a:tcPr marL="68580" marR="68580" marT="0" marB="0" anchor="ctr"/>
                </a:tc>
                <a:tc>
                  <a:txBody>
                    <a:bodyPr/>
                    <a:lstStyle/>
                    <a:p>
                      <a:pPr algn="ctr">
                        <a:spcBef>
                          <a:spcPts val="1800"/>
                        </a:spcBef>
                        <a:spcAft>
                          <a:spcPts val="800"/>
                        </a:spcAft>
                        <a:buNone/>
                      </a:pPr>
                      <a:r>
                        <a:rPr lang="en-IN" sz="1800" b="0" kern="0" dirty="0">
                          <a:solidFill>
                            <a:srgbClr val="000000"/>
                          </a:solidFill>
                          <a:effectLst/>
                          <a:latin typeface="Caladea Bold" panose="020B0604020202020204" charset="0"/>
                        </a:rPr>
                        <a:t>Source code and algorithm</a:t>
                      </a:r>
                      <a:endParaRPr lang="en-IN" sz="1600" b="1" kern="0" dirty="0">
                        <a:solidFill>
                          <a:srgbClr val="A90000"/>
                        </a:solidFill>
                        <a:effectLst/>
                        <a:latin typeface="Caladea Bold" panose="020B0604020202020204" charset="0"/>
                      </a:endParaRPr>
                    </a:p>
                  </a:txBody>
                  <a:tcPr marL="68580" marR="68580" marT="0" marB="0" anchor="ctr"/>
                </a:tc>
                <a:extLst>
                  <a:ext uri="{0D108BD9-81ED-4DB2-BD59-A6C34878D82A}">
                    <a16:rowId xmlns:a16="http://schemas.microsoft.com/office/drawing/2014/main" val="4085953143"/>
                  </a:ext>
                </a:extLst>
              </a:tr>
              <a:tr h="858585">
                <a:tc>
                  <a:txBody>
                    <a:bodyPr/>
                    <a:lstStyle/>
                    <a:p>
                      <a:pPr algn="ctr">
                        <a:spcBef>
                          <a:spcPts val="1800"/>
                        </a:spcBef>
                        <a:spcAft>
                          <a:spcPts val="800"/>
                        </a:spcAft>
                        <a:buNone/>
                      </a:pPr>
                      <a:r>
                        <a:rPr lang="en-IN" sz="1800" b="0" kern="0">
                          <a:solidFill>
                            <a:srgbClr val="000000"/>
                          </a:solidFill>
                          <a:effectLst/>
                          <a:latin typeface="Caladea Bold" panose="020B0604020202020204" charset="0"/>
                        </a:rPr>
                        <a:t>NIKITHA SRIRANGAM</a:t>
                      </a:r>
                      <a:endParaRPr lang="en-IN" sz="1600" b="1" kern="0">
                        <a:solidFill>
                          <a:srgbClr val="A90000"/>
                        </a:solidFill>
                        <a:effectLst/>
                        <a:latin typeface="Caladea Bold" panose="020B0604020202020204" charset="0"/>
                      </a:endParaRPr>
                    </a:p>
                  </a:txBody>
                  <a:tcPr marL="68580" marR="68580" marT="0" marB="0" anchor="ctr"/>
                </a:tc>
                <a:tc>
                  <a:txBody>
                    <a:bodyPr/>
                    <a:lstStyle/>
                    <a:p>
                      <a:pPr algn="ctr">
                        <a:spcBef>
                          <a:spcPts val="1800"/>
                        </a:spcBef>
                        <a:spcAft>
                          <a:spcPts val="800"/>
                        </a:spcAft>
                        <a:buNone/>
                      </a:pPr>
                      <a:r>
                        <a:rPr lang="en-IN" sz="1800" b="0" kern="0" dirty="0">
                          <a:solidFill>
                            <a:srgbClr val="000000"/>
                          </a:solidFill>
                          <a:effectLst/>
                          <a:latin typeface="Caladea Bold" panose="020B0604020202020204" charset="0"/>
                        </a:rPr>
                        <a:t> sample outputs, documentation, presentation</a:t>
                      </a:r>
                      <a:endParaRPr lang="en-IN" sz="1600" b="1" kern="0" dirty="0">
                        <a:solidFill>
                          <a:srgbClr val="A90000"/>
                        </a:solidFill>
                        <a:effectLst/>
                        <a:latin typeface="Caladea Bold" panose="020B0604020202020204" charset="0"/>
                      </a:endParaRPr>
                    </a:p>
                  </a:txBody>
                  <a:tcPr marL="68580" marR="68580" marT="0" marB="0" anchor="ctr"/>
                </a:tc>
                <a:tc>
                  <a:txBody>
                    <a:bodyPr/>
                    <a:lstStyle/>
                    <a:p>
                      <a:pPr algn="ctr">
                        <a:spcBef>
                          <a:spcPts val="1800"/>
                        </a:spcBef>
                        <a:spcAft>
                          <a:spcPts val="800"/>
                        </a:spcAft>
                        <a:buNone/>
                      </a:pPr>
                      <a:r>
                        <a:rPr lang="en-IN" sz="1800" b="0" kern="0" dirty="0">
                          <a:solidFill>
                            <a:srgbClr val="000000"/>
                          </a:solidFill>
                          <a:effectLst/>
                          <a:latin typeface="Caladea Bold" panose="020B0604020202020204" charset="0"/>
                        </a:rPr>
                        <a:t>Project report</a:t>
                      </a:r>
                      <a:endParaRPr lang="en-IN" sz="1600" b="1" kern="0" dirty="0">
                        <a:solidFill>
                          <a:srgbClr val="A90000"/>
                        </a:solidFill>
                        <a:effectLst/>
                        <a:latin typeface="Caladea Bold" panose="020B0604020202020204" charset="0"/>
                      </a:endParaRPr>
                    </a:p>
                  </a:txBody>
                  <a:tcPr marL="68580" marR="68580" marT="0" marB="0" anchor="ctr"/>
                </a:tc>
                <a:extLst>
                  <a:ext uri="{0D108BD9-81ED-4DB2-BD59-A6C34878D82A}">
                    <a16:rowId xmlns:a16="http://schemas.microsoft.com/office/drawing/2014/main" val="433367090"/>
                  </a:ext>
                </a:extLst>
              </a:tr>
            </a:tbl>
          </a:graphicData>
        </a:graphic>
      </p:graphicFrame>
    </p:spTree>
    <p:extLst>
      <p:ext uri="{BB962C8B-B14F-4D97-AF65-F5344CB8AC3E}">
        <p14:creationId xmlns:p14="http://schemas.microsoft.com/office/powerpoint/2010/main" val="601274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456B7A-6949-8A71-437B-F006527DB0F4}"/>
              </a:ext>
            </a:extLst>
          </p:cNvPr>
          <p:cNvPicPr>
            <a:picLocks noChangeAspect="1"/>
          </p:cNvPicPr>
          <p:nvPr/>
        </p:nvPicPr>
        <p:blipFill>
          <a:blip r:embed="rId2"/>
          <a:stretch>
            <a:fillRect/>
          </a:stretch>
        </p:blipFill>
        <p:spPr>
          <a:xfrm>
            <a:off x="1" y="107841"/>
            <a:ext cx="12192000" cy="6750159"/>
          </a:xfrm>
          <a:prstGeom prst="rect">
            <a:avLst/>
          </a:prstGeom>
        </p:spPr>
      </p:pic>
      <p:sp>
        <p:nvSpPr>
          <p:cNvPr id="4" name="TextBox 3">
            <a:extLst>
              <a:ext uri="{FF2B5EF4-FFF2-40B4-BE49-F238E27FC236}">
                <a16:creationId xmlns:a16="http://schemas.microsoft.com/office/drawing/2014/main" id="{95D4211C-8964-700F-37D5-E29BFC5F66C6}"/>
              </a:ext>
            </a:extLst>
          </p:cNvPr>
          <p:cNvSpPr txBox="1"/>
          <p:nvPr/>
        </p:nvSpPr>
        <p:spPr>
          <a:xfrm>
            <a:off x="532435" y="1851949"/>
            <a:ext cx="10498238" cy="2123658"/>
          </a:xfrm>
          <a:prstGeom prst="rect">
            <a:avLst/>
          </a:prstGeom>
          <a:noFill/>
        </p:spPr>
        <p:txBody>
          <a:bodyPr wrap="square" rtlCol="0">
            <a:spAutoFit/>
          </a:bodyPr>
          <a:lstStyle/>
          <a:p>
            <a:r>
              <a:rPr lang="en-IN" sz="4400" dirty="0">
                <a:latin typeface="Caladea Bold" panose="020B0604020202020204" charset="0"/>
              </a:rPr>
              <a:t>13. Advantages </a:t>
            </a:r>
          </a:p>
          <a:p>
            <a:endParaRPr lang="en-IN" sz="4400" dirty="0">
              <a:latin typeface="Caladea Bold" panose="020B0604020202020204" charset="0"/>
            </a:endParaRPr>
          </a:p>
          <a:p>
            <a:endParaRPr lang="en-IN" sz="4400" dirty="0">
              <a:latin typeface="Caladea Bold" panose="020B0604020202020204" charset="0"/>
            </a:endParaRPr>
          </a:p>
        </p:txBody>
      </p:sp>
      <p:sp>
        <p:nvSpPr>
          <p:cNvPr id="5" name="TextBox 4">
            <a:extLst>
              <a:ext uri="{FF2B5EF4-FFF2-40B4-BE49-F238E27FC236}">
                <a16:creationId xmlns:a16="http://schemas.microsoft.com/office/drawing/2014/main" id="{6A4EB04C-34BF-4105-9FF0-258C24439C5A}"/>
              </a:ext>
            </a:extLst>
          </p:cNvPr>
          <p:cNvSpPr txBox="1"/>
          <p:nvPr/>
        </p:nvSpPr>
        <p:spPr>
          <a:xfrm>
            <a:off x="682906" y="3482920"/>
            <a:ext cx="10347767" cy="1938992"/>
          </a:xfrm>
          <a:prstGeom prst="rect">
            <a:avLst/>
          </a:prstGeom>
          <a:noFill/>
        </p:spPr>
        <p:txBody>
          <a:bodyPr wrap="square" rtlCol="0">
            <a:spAutoFit/>
          </a:bodyPr>
          <a:lstStyle/>
          <a:p>
            <a:r>
              <a:rPr lang="en-IN" sz="2400" dirty="0">
                <a:latin typeface="Caladea Bold" panose="020B0604020202020204" charset="0"/>
              </a:rPr>
              <a:t>● Easy for beginners to understand and use. </a:t>
            </a:r>
          </a:p>
          <a:p>
            <a:r>
              <a:rPr lang="en-IN" sz="2400" dirty="0">
                <a:latin typeface="Caladea Bold" panose="020B0604020202020204" charset="0"/>
              </a:rPr>
              <a:t>● Automates the display of headings and file names.</a:t>
            </a:r>
          </a:p>
          <a:p>
            <a:r>
              <a:rPr lang="en-IN" sz="2400" dirty="0">
                <a:latin typeface="Caladea Bold" panose="020B0604020202020204" charset="0"/>
              </a:rPr>
              <a:t>● Creates the specified empty files using touch.</a:t>
            </a:r>
          </a:p>
          <a:p>
            <a:r>
              <a:rPr lang="en-IN" sz="2400" dirty="0">
                <a:latin typeface="Caladea Bold" panose="020B0604020202020204" charset="0"/>
              </a:rPr>
              <a:t>● Runs from the Linux terminal with a simple command.</a:t>
            </a:r>
          </a:p>
          <a:p>
            <a:endParaRPr lang="en-IN" sz="2400" dirty="0">
              <a:latin typeface="Caladea Bold" panose="020B0604020202020204" charset="0"/>
            </a:endParaRPr>
          </a:p>
        </p:txBody>
      </p:sp>
    </p:spTree>
    <p:extLst>
      <p:ext uri="{BB962C8B-B14F-4D97-AF65-F5344CB8AC3E}">
        <p14:creationId xmlns:p14="http://schemas.microsoft.com/office/powerpoint/2010/main" val="573326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AB173-F33E-4A75-55C0-27F49E380B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AE8E32-0630-7318-75DF-D1487086342F}"/>
              </a:ext>
            </a:extLst>
          </p:cNvPr>
          <p:cNvPicPr>
            <a:picLocks noChangeAspect="1"/>
          </p:cNvPicPr>
          <p:nvPr/>
        </p:nvPicPr>
        <p:blipFill>
          <a:blip r:embed="rId2"/>
          <a:stretch>
            <a:fillRect/>
          </a:stretch>
        </p:blipFill>
        <p:spPr>
          <a:xfrm>
            <a:off x="1" y="107841"/>
            <a:ext cx="12192000" cy="6750159"/>
          </a:xfrm>
          <a:prstGeom prst="rect">
            <a:avLst/>
          </a:prstGeom>
        </p:spPr>
      </p:pic>
      <p:sp>
        <p:nvSpPr>
          <p:cNvPr id="2" name="TextBox 1">
            <a:extLst>
              <a:ext uri="{FF2B5EF4-FFF2-40B4-BE49-F238E27FC236}">
                <a16:creationId xmlns:a16="http://schemas.microsoft.com/office/drawing/2014/main" id="{2D2BC150-0BA9-0A8F-0155-5EC5CCE52DCD}"/>
              </a:ext>
            </a:extLst>
          </p:cNvPr>
          <p:cNvSpPr txBox="1"/>
          <p:nvPr/>
        </p:nvSpPr>
        <p:spPr>
          <a:xfrm>
            <a:off x="497711" y="1794076"/>
            <a:ext cx="9954228" cy="769441"/>
          </a:xfrm>
          <a:prstGeom prst="rect">
            <a:avLst/>
          </a:prstGeom>
          <a:noFill/>
        </p:spPr>
        <p:txBody>
          <a:bodyPr wrap="square" rtlCol="0">
            <a:spAutoFit/>
          </a:bodyPr>
          <a:lstStyle/>
          <a:p>
            <a:r>
              <a:rPr lang="en-IN" sz="4400" dirty="0">
                <a:latin typeface="Caladea Bold" panose="020B0604020202020204" charset="0"/>
              </a:rPr>
              <a:t>14. Limitations </a:t>
            </a:r>
          </a:p>
        </p:txBody>
      </p:sp>
      <p:sp>
        <p:nvSpPr>
          <p:cNvPr id="4" name="TextBox 3">
            <a:extLst>
              <a:ext uri="{FF2B5EF4-FFF2-40B4-BE49-F238E27FC236}">
                <a16:creationId xmlns:a16="http://schemas.microsoft.com/office/drawing/2014/main" id="{98FDF226-3719-FCE7-8F4F-C2A79ADADB0E}"/>
              </a:ext>
            </a:extLst>
          </p:cNvPr>
          <p:cNvSpPr txBox="1"/>
          <p:nvPr/>
        </p:nvSpPr>
        <p:spPr>
          <a:xfrm>
            <a:off x="706056" y="3078866"/>
            <a:ext cx="10486663" cy="2677656"/>
          </a:xfrm>
          <a:prstGeom prst="rect">
            <a:avLst/>
          </a:prstGeom>
          <a:noFill/>
        </p:spPr>
        <p:txBody>
          <a:bodyPr wrap="square" rtlCol="0">
            <a:spAutoFit/>
          </a:bodyPr>
          <a:lstStyle/>
          <a:p>
            <a:r>
              <a:rPr lang="en-IN" sz="2400" dirty="0">
                <a:latin typeface="Caladea Bold" panose="020B0604020202020204" charset="0"/>
              </a:rPr>
              <a:t>● File names are fixed in the script and cannot be entered by the user. </a:t>
            </a:r>
          </a:p>
          <a:p>
            <a:r>
              <a:rPr lang="en-IN" sz="2400" dirty="0">
                <a:latin typeface="Caladea Bold" panose="020B0604020202020204" charset="0"/>
              </a:rPr>
              <a:t>● It only creates the files; it does not organize existing files. </a:t>
            </a:r>
          </a:p>
          <a:p>
            <a:r>
              <a:rPr lang="en-IN" sz="2400" dirty="0">
                <a:latin typeface="Caladea Bold" panose="020B0604020202020204" charset="0"/>
              </a:rPr>
              <a:t>● The Documents and Images folders must already exist, or touch may fail to create the files. </a:t>
            </a:r>
          </a:p>
          <a:p>
            <a:r>
              <a:rPr lang="en-IN" sz="2400" dirty="0">
                <a:latin typeface="Caladea Bold" panose="020B0604020202020204" charset="0"/>
              </a:rPr>
              <a:t>● Running the script repeatedly displays the same names and leaves existing files unchanged.</a:t>
            </a:r>
          </a:p>
          <a:p>
            <a:endParaRPr lang="en-IN" sz="2400" dirty="0">
              <a:latin typeface="Caladea Bold" panose="020B0604020202020204" charset="0"/>
            </a:endParaRPr>
          </a:p>
        </p:txBody>
      </p:sp>
    </p:spTree>
    <p:extLst>
      <p:ext uri="{BB962C8B-B14F-4D97-AF65-F5344CB8AC3E}">
        <p14:creationId xmlns:p14="http://schemas.microsoft.com/office/powerpoint/2010/main" val="4117527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892AD-0326-5226-3ECB-381BF450E0E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125C48-069D-AFE6-5069-869E495F5254}"/>
              </a:ext>
            </a:extLst>
          </p:cNvPr>
          <p:cNvPicPr>
            <a:picLocks noChangeAspect="1"/>
          </p:cNvPicPr>
          <p:nvPr/>
        </p:nvPicPr>
        <p:blipFill>
          <a:blip r:embed="rId2"/>
          <a:stretch>
            <a:fillRect/>
          </a:stretch>
        </p:blipFill>
        <p:spPr>
          <a:xfrm>
            <a:off x="1" y="107841"/>
            <a:ext cx="12192000" cy="6750159"/>
          </a:xfrm>
          <a:prstGeom prst="rect">
            <a:avLst/>
          </a:prstGeom>
        </p:spPr>
      </p:pic>
      <p:sp>
        <p:nvSpPr>
          <p:cNvPr id="2" name="TextBox 1">
            <a:extLst>
              <a:ext uri="{FF2B5EF4-FFF2-40B4-BE49-F238E27FC236}">
                <a16:creationId xmlns:a16="http://schemas.microsoft.com/office/drawing/2014/main" id="{D4F8B390-670C-F794-89D4-D24EEDF2EC68}"/>
              </a:ext>
            </a:extLst>
          </p:cNvPr>
          <p:cNvSpPr txBox="1"/>
          <p:nvPr/>
        </p:nvSpPr>
        <p:spPr>
          <a:xfrm>
            <a:off x="567159" y="1863524"/>
            <a:ext cx="10289894" cy="769441"/>
          </a:xfrm>
          <a:prstGeom prst="rect">
            <a:avLst/>
          </a:prstGeom>
          <a:noFill/>
        </p:spPr>
        <p:txBody>
          <a:bodyPr wrap="square" rtlCol="0">
            <a:spAutoFit/>
          </a:bodyPr>
          <a:lstStyle/>
          <a:p>
            <a:r>
              <a:rPr lang="en-IN" sz="4400" dirty="0">
                <a:latin typeface="Caladea Bold" panose="020B0604020202020204" charset="0"/>
              </a:rPr>
              <a:t>15. Future Enhancements </a:t>
            </a:r>
          </a:p>
        </p:txBody>
      </p:sp>
      <p:sp>
        <p:nvSpPr>
          <p:cNvPr id="4" name="TextBox 3">
            <a:extLst>
              <a:ext uri="{FF2B5EF4-FFF2-40B4-BE49-F238E27FC236}">
                <a16:creationId xmlns:a16="http://schemas.microsoft.com/office/drawing/2014/main" id="{5A0A0BB0-0637-8DB8-E331-9887BB47B37F}"/>
              </a:ext>
            </a:extLst>
          </p:cNvPr>
          <p:cNvSpPr txBox="1"/>
          <p:nvPr/>
        </p:nvSpPr>
        <p:spPr>
          <a:xfrm>
            <a:off x="740780" y="3090441"/>
            <a:ext cx="10486663" cy="2677656"/>
          </a:xfrm>
          <a:prstGeom prst="rect">
            <a:avLst/>
          </a:prstGeom>
          <a:noFill/>
        </p:spPr>
        <p:txBody>
          <a:bodyPr wrap="square" rtlCol="0">
            <a:spAutoFit/>
          </a:bodyPr>
          <a:lstStyle/>
          <a:p>
            <a:r>
              <a:rPr lang="en-IN" sz="2400" dirty="0">
                <a:latin typeface="Caladea Bold" panose="020B0604020202020204" charset="0"/>
              </a:rPr>
              <a:t>● File names are fixed in the script and cannot be entered by the user. </a:t>
            </a:r>
          </a:p>
          <a:p>
            <a:r>
              <a:rPr lang="en-IN" sz="2400" dirty="0">
                <a:latin typeface="Caladea Bold" panose="020B0604020202020204" charset="0"/>
              </a:rPr>
              <a:t>● It only creates the files; it does not organize existing files. </a:t>
            </a:r>
          </a:p>
          <a:p>
            <a:r>
              <a:rPr lang="en-IN" sz="2400" dirty="0">
                <a:latin typeface="Caladea Bold" panose="020B0604020202020204" charset="0"/>
              </a:rPr>
              <a:t>● The Documents and Images folders must already exist, or touch may fail to create the files. </a:t>
            </a:r>
          </a:p>
          <a:p>
            <a:r>
              <a:rPr lang="en-IN" sz="2400" dirty="0">
                <a:latin typeface="Caladea Bold" panose="020B0604020202020204" charset="0"/>
              </a:rPr>
              <a:t>● Running the script repeatedly displays the same names and leaves existing files unchanged.</a:t>
            </a:r>
          </a:p>
          <a:p>
            <a:endParaRPr lang="en-IN" sz="2400" dirty="0">
              <a:latin typeface="Caladea Bold" panose="020B0604020202020204" charset="0"/>
            </a:endParaRPr>
          </a:p>
        </p:txBody>
      </p:sp>
    </p:spTree>
    <p:extLst>
      <p:ext uri="{BB962C8B-B14F-4D97-AF65-F5344CB8AC3E}">
        <p14:creationId xmlns:p14="http://schemas.microsoft.com/office/powerpoint/2010/main" val="3171006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58835-3727-30C2-FD87-264EE9DDD02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CE6426-1E13-5130-3558-3CEAFB529173}"/>
              </a:ext>
            </a:extLst>
          </p:cNvPr>
          <p:cNvPicPr>
            <a:picLocks noChangeAspect="1"/>
          </p:cNvPicPr>
          <p:nvPr/>
        </p:nvPicPr>
        <p:blipFill>
          <a:blip r:embed="rId2"/>
          <a:stretch>
            <a:fillRect/>
          </a:stretch>
        </p:blipFill>
        <p:spPr>
          <a:xfrm>
            <a:off x="1" y="107841"/>
            <a:ext cx="12192000" cy="6750159"/>
          </a:xfrm>
          <a:prstGeom prst="rect">
            <a:avLst/>
          </a:prstGeom>
        </p:spPr>
      </p:pic>
      <p:sp>
        <p:nvSpPr>
          <p:cNvPr id="2" name="TextBox 1">
            <a:extLst>
              <a:ext uri="{FF2B5EF4-FFF2-40B4-BE49-F238E27FC236}">
                <a16:creationId xmlns:a16="http://schemas.microsoft.com/office/drawing/2014/main" id="{709EDA6B-92BE-CDD4-C076-A9A85712B37A}"/>
              </a:ext>
            </a:extLst>
          </p:cNvPr>
          <p:cNvSpPr txBox="1"/>
          <p:nvPr/>
        </p:nvSpPr>
        <p:spPr>
          <a:xfrm>
            <a:off x="578734" y="1863524"/>
            <a:ext cx="10035251" cy="769441"/>
          </a:xfrm>
          <a:prstGeom prst="rect">
            <a:avLst/>
          </a:prstGeom>
          <a:noFill/>
        </p:spPr>
        <p:txBody>
          <a:bodyPr wrap="square" rtlCol="0">
            <a:spAutoFit/>
          </a:bodyPr>
          <a:lstStyle/>
          <a:p>
            <a:r>
              <a:rPr lang="en-IN" sz="4400" dirty="0">
                <a:latin typeface="Caladea Bold" panose="020B0604020202020204" charset="0"/>
              </a:rPr>
              <a:t>16. Learning Outcomes </a:t>
            </a:r>
          </a:p>
        </p:txBody>
      </p:sp>
      <p:sp>
        <p:nvSpPr>
          <p:cNvPr id="4" name="TextBox 3">
            <a:extLst>
              <a:ext uri="{FF2B5EF4-FFF2-40B4-BE49-F238E27FC236}">
                <a16:creationId xmlns:a16="http://schemas.microsoft.com/office/drawing/2014/main" id="{B08734A9-E26B-4D3F-A578-B977DFFFDF75}"/>
              </a:ext>
            </a:extLst>
          </p:cNvPr>
          <p:cNvSpPr txBox="1"/>
          <p:nvPr/>
        </p:nvSpPr>
        <p:spPr>
          <a:xfrm>
            <a:off x="798653" y="3206187"/>
            <a:ext cx="10544537" cy="2677656"/>
          </a:xfrm>
          <a:prstGeom prst="rect">
            <a:avLst/>
          </a:prstGeom>
          <a:noFill/>
        </p:spPr>
        <p:txBody>
          <a:bodyPr wrap="square" rtlCol="0">
            <a:spAutoFit/>
          </a:bodyPr>
          <a:lstStyle/>
          <a:p>
            <a:r>
              <a:rPr lang="en-IN" sz="2400" dirty="0">
                <a:latin typeface="Caladea Bold" panose="020B0604020202020204" charset="0"/>
              </a:rPr>
              <a:t>● File names are fixed in the script and cannot be entered by the user. </a:t>
            </a:r>
          </a:p>
          <a:p>
            <a:r>
              <a:rPr lang="en-IN" sz="2400" dirty="0">
                <a:latin typeface="Caladea Bold" panose="020B0604020202020204" charset="0"/>
              </a:rPr>
              <a:t>● It only creates the files; it does not organize existing files. </a:t>
            </a:r>
          </a:p>
          <a:p>
            <a:r>
              <a:rPr lang="en-IN" sz="2400" dirty="0">
                <a:latin typeface="Caladea Bold" panose="020B0604020202020204" charset="0"/>
              </a:rPr>
              <a:t>● The Documents and Images folders must already exist, or touch may fail to create the files. </a:t>
            </a:r>
          </a:p>
          <a:p>
            <a:r>
              <a:rPr lang="en-IN" sz="2400" dirty="0">
                <a:latin typeface="Caladea Bold" panose="020B0604020202020204" charset="0"/>
              </a:rPr>
              <a:t>● Running the script repeatedly displays the same names and leaves existing files unchanged.</a:t>
            </a:r>
          </a:p>
          <a:p>
            <a:endParaRPr lang="en-IN" sz="2400" dirty="0">
              <a:latin typeface="Caladea Bold" panose="020B0604020202020204" charset="0"/>
            </a:endParaRPr>
          </a:p>
        </p:txBody>
      </p:sp>
    </p:spTree>
    <p:extLst>
      <p:ext uri="{BB962C8B-B14F-4D97-AF65-F5344CB8AC3E}">
        <p14:creationId xmlns:p14="http://schemas.microsoft.com/office/powerpoint/2010/main" val="1004462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B53B-2906-17AD-A468-6A5B3A8B7C3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446AEA-E60C-A3C7-F155-C8EE42035A8F}"/>
              </a:ext>
            </a:extLst>
          </p:cNvPr>
          <p:cNvPicPr>
            <a:picLocks noChangeAspect="1"/>
          </p:cNvPicPr>
          <p:nvPr/>
        </p:nvPicPr>
        <p:blipFill>
          <a:blip r:embed="rId2"/>
          <a:stretch>
            <a:fillRect/>
          </a:stretch>
        </p:blipFill>
        <p:spPr>
          <a:xfrm>
            <a:off x="1" y="107841"/>
            <a:ext cx="12192000" cy="6750159"/>
          </a:xfrm>
          <a:prstGeom prst="rect">
            <a:avLst/>
          </a:prstGeom>
        </p:spPr>
      </p:pic>
      <p:sp>
        <p:nvSpPr>
          <p:cNvPr id="2" name="TextBox 1">
            <a:extLst>
              <a:ext uri="{FF2B5EF4-FFF2-40B4-BE49-F238E27FC236}">
                <a16:creationId xmlns:a16="http://schemas.microsoft.com/office/drawing/2014/main" id="{83DB0A77-17C4-29CA-AE47-7B273413CEF5}"/>
              </a:ext>
            </a:extLst>
          </p:cNvPr>
          <p:cNvSpPr txBox="1"/>
          <p:nvPr/>
        </p:nvSpPr>
        <p:spPr>
          <a:xfrm>
            <a:off x="439838" y="1840375"/>
            <a:ext cx="10891777" cy="1446550"/>
          </a:xfrm>
          <a:prstGeom prst="rect">
            <a:avLst/>
          </a:prstGeom>
          <a:noFill/>
        </p:spPr>
        <p:txBody>
          <a:bodyPr wrap="square" rtlCol="0">
            <a:spAutoFit/>
          </a:bodyPr>
          <a:lstStyle/>
          <a:p>
            <a:r>
              <a:rPr lang="en-IN" sz="4400" dirty="0">
                <a:latin typeface="Caladea Bold" panose="020B0604020202020204" charset="0"/>
              </a:rPr>
              <a:t>17. Conclusion </a:t>
            </a:r>
          </a:p>
          <a:p>
            <a:endParaRPr lang="en-IN" sz="4400" dirty="0">
              <a:latin typeface="Caladea Bold" panose="020B0604020202020204" charset="0"/>
            </a:endParaRPr>
          </a:p>
        </p:txBody>
      </p:sp>
      <p:sp>
        <p:nvSpPr>
          <p:cNvPr id="4" name="TextBox 3">
            <a:extLst>
              <a:ext uri="{FF2B5EF4-FFF2-40B4-BE49-F238E27FC236}">
                <a16:creationId xmlns:a16="http://schemas.microsoft.com/office/drawing/2014/main" id="{802AFA8F-8720-B7F4-5AAD-3DB2448C4D38}"/>
              </a:ext>
            </a:extLst>
          </p:cNvPr>
          <p:cNvSpPr txBox="1"/>
          <p:nvPr/>
        </p:nvSpPr>
        <p:spPr>
          <a:xfrm>
            <a:off x="625033" y="3429000"/>
            <a:ext cx="10706582" cy="1938992"/>
          </a:xfrm>
          <a:prstGeom prst="rect">
            <a:avLst/>
          </a:prstGeom>
          <a:noFill/>
        </p:spPr>
        <p:txBody>
          <a:bodyPr wrap="square" rtlCol="0">
            <a:spAutoFit/>
          </a:bodyPr>
          <a:lstStyle/>
          <a:p>
            <a:r>
              <a:rPr lang="en-IN" sz="2400" dirty="0">
                <a:latin typeface="Caladea Bold" panose="020B0604020202020204" charset="0"/>
              </a:rPr>
              <a:t>The Personal File Organizer project demonstrates basic Bash scripting. It displays headings and file names and creates sample files in specified folders. While it does not organize existing files, it provides a foundation for learning how to automate file-related tasks in Linux. </a:t>
            </a:r>
          </a:p>
          <a:p>
            <a:endParaRPr lang="en-IN" sz="2400" dirty="0">
              <a:latin typeface="Caladea Bold" panose="020B0604020202020204" charset="0"/>
            </a:endParaRPr>
          </a:p>
        </p:txBody>
      </p:sp>
    </p:spTree>
    <p:extLst>
      <p:ext uri="{BB962C8B-B14F-4D97-AF65-F5344CB8AC3E}">
        <p14:creationId xmlns:p14="http://schemas.microsoft.com/office/powerpoint/2010/main" val="1191201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1477-FC7E-6304-4921-0EB52D3E28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C36FE6-6F45-0DD9-DDBF-F26ED5A945A3}"/>
              </a:ext>
            </a:extLst>
          </p:cNvPr>
          <p:cNvPicPr>
            <a:picLocks noChangeAspect="1"/>
          </p:cNvPicPr>
          <p:nvPr/>
        </p:nvPicPr>
        <p:blipFill>
          <a:blip r:embed="rId2"/>
          <a:stretch>
            <a:fillRect/>
          </a:stretch>
        </p:blipFill>
        <p:spPr>
          <a:xfrm>
            <a:off x="1" y="107841"/>
            <a:ext cx="12192000" cy="6750159"/>
          </a:xfrm>
          <a:prstGeom prst="rect">
            <a:avLst/>
          </a:prstGeom>
        </p:spPr>
      </p:pic>
      <p:sp>
        <p:nvSpPr>
          <p:cNvPr id="4" name="TextBox 3">
            <a:extLst>
              <a:ext uri="{FF2B5EF4-FFF2-40B4-BE49-F238E27FC236}">
                <a16:creationId xmlns:a16="http://schemas.microsoft.com/office/drawing/2014/main" id="{A7AA69DA-60A1-43B8-3B9F-759218EDE81C}"/>
              </a:ext>
            </a:extLst>
          </p:cNvPr>
          <p:cNvSpPr txBox="1"/>
          <p:nvPr/>
        </p:nvSpPr>
        <p:spPr>
          <a:xfrm>
            <a:off x="601884" y="2057537"/>
            <a:ext cx="10752881" cy="769441"/>
          </a:xfrm>
          <a:prstGeom prst="rect">
            <a:avLst/>
          </a:prstGeom>
          <a:noFill/>
        </p:spPr>
        <p:txBody>
          <a:bodyPr wrap="square" rtlCol="0">
            <a:spAutoFit/>
          </a:bodyPr>
          <a:lstStyle/>
          <a:p>
            <a:r>
              <a:rPr lang="en-IN" sz="4400" dirty="0">
                <a:latin typeface="Caladea Bold" panose="020B0604020202020204" charset="0"/>
              </a:rPr>
              <a:t>18. References </a:t>
            </a:r>
          </a:p>
        </p:txBody>
      </p:sp>
      <p:sp>
        <p:nvSpPr>
          <p:cNvPr id="5" name="TextBox 4">
            <a:extLst>
              <a:ext uri="{FF2B5EF4-FFF2-40B4-BE49-F238E27FC236}">
                <a16:creationId xmlns:a16="http://schemas.microsoft.com/office/drawing/2014/main" id="{5E714727-5A29-971A-1541-EEB96B84D1D1}"/>
              </a:ext>
            </a:extLst>
          </p:cNvPr>
          <p:cNvSpPr txBox="1"/>
          <p:nvPr/>
        </p:nvSpPr>
        <p:spPr>
          <a:xfrm>
            <a:off x="601884" y="3429000"/>
            <a:ext cx="10752881" cy="1938992"/>
          </a:xfrm>
          <a:prstGeom prst="rect">
            <a:avLst/>
          </a:prstGeom>
          <a:noFill/>
        </p:spPr>
        <p:txBody>
          <a:bodyPr wrap="square" rtlCol="0">
            <a:spAutoFit/>
          </a:bodyPr>
          <a:lstStyle/>
          <a:p>
            <a:r>
              <a:rPr lang="en-IN" sz="2400" dirty="0">
                <a:latin typeface="Caladea Bold" panose="020B0604020202020204" charset="0"/>
              </a:rPr>
              <a:t>● The Linux man-pages: bash, </a:t>
            </a:r>
            <a:r>
              <a:rPr lang="en-IN" sz="2400" dirty="0" err="1">
                <a:latin typeface="Caladea Bold" panose="020B0604020202020204" charset="0"/>
              </a:rPr>
              <a:t>mkdir</a:t>
            </a:r>
            <a:r>
              <a:rPr lang="en-IN" sz="2400" dirty="0">
                <a:latin typeface="Caladea Bold" panose="020B0604020202020204" charset="0"/>
              </a:rPr>
              <a:t> and related commands. </a:t>
            </a:r>
          </a:p>
          <a:p>
            <a:r>
              <a:rPr lang="en-IN" sz="2400" dirty="0">
                <a:latin typeface="Caladea Bold" panose="020B0604020202020204" charset="0"/>
              </a:rPr>
              <a:t>● GNU Bash Reference Manual. </a:t>
            </a:r>
          </a:p>
          <a:p>
            <a:r>
              <a:rPr lang="en-IN" sz="2400" dirty="0">
                <a:latin typeface="Caladea Bold" panose="020B0604020202020204" charset="0"/>
              </a:rPr>
              <a:t>● Ubuntu Linux documentation. </a:t>
            </a:r>
          </a:p>
          <a:p>
            <a:r>
              <a:rPr lang="en-IN" sz="2400" dirty="0">
                <a:latin typeface="Caladea Bold" panose="020B0604020202020204" charset="0"/>
              </a:rPr>
              <a:t>● Course notes and laboratory material provided by the faculty.</a:t>
            </a:r>
          </a:p>
          <a:p>
            <a:endParaRPr lang="en-IN" sz="2400" dirty="0">
              <a:latin typeface="Caladea Bold" panose="020B0604020202020204" charset="0"/>
            </a:endParaRPr>
          </a:p>
        </p:txBody>
      </p:sp>
    </p:spTree>
    <p:extLst>
      <p:ext uri="{BB962C8B-B14F-4D97-AF65-F5344CB8AC3E}">
        <p14:creationId xmlns:p14="http://schemas.microsoft.com/office/powerpoint/2010/main" val="4239379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7FAC8-0E38-BDED-62D4-F83EBBCBD8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10A8DAC-DEF1-6787-4323-CC3C8B269F41}"/>
              </a:ext>
            </a:extLst>
          </p:cNvPr>
          <p:cNvPicPr>
            <a:picLocks noChangeAspect="1"/>
          </p:cNvPicPr>
          <p:nvPr/>
        </p:nvPicPr>
        <p:blipFill>
          <a:blip r:embed="rId2"/>
          <a:stretch>
            <a:fillRect/>
          </a:stretch>
        </p:blipFill>
        <p:spPr>
          <a:xfrm>
            <a:off x="1" y="107841"/>
            <a:ext cx="12192000" cy="6750159"/>
          </a:xfrm>
          <a:prstGeom prst="rect">
            <a:avLst/>
          </a:prstGeom>
        </p:spPr>
      </p:pic>
      <p:pic>
        <p:nvPicPr>
          <p:cNvPr id="8" name="Picture 7">
            <a:extLst>
              <a:ext uri="{FF2B5EF4-FFF2-40B4-BE49-F238E27FC236}">
                <a16:creationId xmlns:a16="http://schemas.microsoft.com/office/drawing/2014/main" id="{DD9E80C0-C677-1402-80FB-40B9DD2DE077}"/>
              </a:ext>
            </a:extLst>
          </p:cNvPr>
          <p:cNvPicPr>
            <a:picLocks noChangeAspect="1"/>
          </p:cNvPicPr>
          <p:nvPr/>
        </p:nvPicPr>
        <p:blipFill>
          <a:blip r:embed="rId3"/>
          <a:stretch>
            <a:fillRect/>
          </a:stretch>
        </p:blipFill>
        <p:spPr>
          <a:xfrm>
            <a:off x="397397" y="2141316"/>
            <a:ext cx="11397206" cy="4608843"/>
          </a:xfrm>
          <a:prstGeom prst="rect">
            <a:avLst/>
          </a:prstGeom>
        </p:spPr>
      </p:pic>
      <p:pic>
        <p:nvPicPr>
          <p:cNvPr id="10" name="Picture 9">
            <a:extLst>
              <a:ext uri="{FF2B5EF4-FFF2-40B4-BE49-F238E27FC236}">
                <a16:creationId xmlns:a16="http://schemas.microsoft.com/office/drawing/2014/main" id="{74ECE415-99D7-84A9-2EF0-2BC485367B67}"/>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2301728" y="2417643"/>
            <a:ext cx="7588544" cy="3242378"/>
          </a:xfrm>
          <a:prstGeom prst="rect">
            <a:avLst/>
          </a:prstGeom>
        </p:spPr>
      </p:pic>
    </p:spTree>
    <p:extLst>
      <p:ext uri="{BB962C8B-B14F-4D97-AF65-F5344CB8AC3E}">
        <p14:creationId xmlns:p14="http://schemas.microsoft.com/office/powerpoint/2010/main" val="3240825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975</Words>
  <Application>Microsoft Office PowerPoint</Application>
  <PresentationFormat>Widescreen</PresentationFormat>
  <Paragraphs>120</Paragraphs>
  <Slides>17</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Carlito Bold</vt:lpstr>
      <vt:lpstr>Caladea Bold</vt:lpstr>
      <vt:lpstr>Consolas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Poshika B</dc:creator>
  <cp:lastModifiedBy>Poshika B</cp:lastModifiedBy>
  <cp:revision>4</cp:revision>
  <dcterms:created xsi:type="dcterms:W3CDTF">2026-10-12T16:48:21Z</dcterms:created>
  <dcterms:modified xsi:type="dcterms:W3CDTF">2026-10-13T08:26:43Z</dcterms:modified>
</cp:coreProperties>
</file>